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4" r:id="rId1"/>
  </p:sldMasterIdLst>
  <p:notesMasterIdLst>
    <p:notesMasterId r:id="rId32"/>
  </p:notesMasterIdLst>
  <p:sldIdLst>
    <p:sldId id="256" r:id="rId2"/>
    <p:sldId id="286" r:id="rId3"/>
    <p:sldId id="333" r:id="rId4"/>
    <p:sldId id="303" r:id="rId5"/>
    <p:sldId id="304" r:id="rId6"/>
    <p:sldId id="305" r:id="rId7"/>
    <p:sldId id="307" r:id="rId8"/>
    <p:sldId id="313" r:id="rId9"/>
    <p:sldId id="334" r:id="rId10"/>
    <p:sldId id="335" r:id="rId11"/>
    <p:sldId id="336" r:id="rId12"/>
    <p:sldId id="337" r:id="rId13"/>
    <p:sldId id="338" r:id="rId14"/>
    <p:sldId id="339" r:id="rId15"/>
    <p:sldId id="340" r:id="rId16"/>
    <p:sldId id="314" r:id="rId17"/>
    <p:sldId id="341" r:id="rId18"/>
    <p:sldId id="342" r:id="rId19"/>
    <p:sldId id="343" r:id="rId20"/>
    <p:sldId id="344" r:id="rId21"/>
    <p:sldId id="345" r:id="rId22"/>
    <p:sldId id="346" r:id="rId23"/>
    <p:sldId id="347" r:id="rId24"/>
    <p:sldId id="348" r:id="rId25"/>
    <p:sldId id="349" r:id="rId26"/>
    <p:sldId id="351" r:id="rId27"/>
    <p:sldId id="330" r:id="rId28"/>
    <p:sldId id="352" r:id="rId29"/>
    <p:sldId id="353" r:id="rId30"/>
    <p:sldId id="279"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73" autoAdjust="0"/>
    <p:restoredTop sz="94660"/>
  </p:normalViewPr>
  <p:slideViewPr>
    <p:cSldViewPr snapToGrid="0">
      <p:cViewPr varScale="1">
        <p:scale>
          <a:sx n="111" d="100"/>
          <a:sy n="111" d="100"/>
        </p:scale>
        <p:origin x="7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45BD1A-0AAD-4496-BCFC-299611B5225E}" type="datetimeFigureOut">
              <a:rPr lang="en-IN" smtClean="0"/>
              <a:t>16-04-2025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66F5DF-9FC5-4830-9CF9-E6329FB63518}" type="slidenum">
              <a:rPr lang="en-IN" smtClean="0"/>
              <a:t>‹#›</a:t>
            </a:fld>
            <a:endParaRPr lang="en-IN"/>
          </a:p>
        </p:txBody>
      </p:sp>
    </p:spTree>
    <p:extLst>
      <p:ext uri="{BB962C8B-B14F-4D97-AF65-F5344CB8AC3E}">
        <p14:creationId xmlns:p14="http://schemas.microsoft.com/office/powerpoint/2010/main" val="3437997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D38F81C4-5D44-4DA9-8B70-E6DF1E342CDF}" type="datetimeFigureOut">
              <a:rPr lang="en-IN" smtClean="0"/>
              <a:t>16-04-2025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903AD0-0F0A-4749-A735-10C8F4DDAA78}"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144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8F81C4-5D44-4DA9-8B70-E6DF1E342CDF}" type="datetimeFigureOut">
              <a:rPr lang="en-IN" smtClean="0"/>
              <a:t>16-04-2025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903AD0-0F0A-4749-A735-10C8F4DDAA78}" type="slidenum">
              <a:rPr lang="en-IN" smtClean="0"/>
              <a:t>‹#›</a:t>
            </a:fld>
            <a:endParaRPr lang="en-IN"/>
          </a:p>
        </p:txBody>
      </p:sp>
    </p:spTree>
    <p:extLst>
      <p:ext uri="{BB962C8B-B14F-4D97-AF65-F5344CB8AC3E}">
        <p14:creationId xmlns:p14="http://schemas.microsoft.com/office/powerpoint/2010/main" val="3650696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8F81C4-5D44-4DA9-8B70-E6DF1E342CDF}" type="datetimeFigureOut">
              <a:rPr lang="en-IN" smtClean="0"/>
              <a:t>16-04-2025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903AD0-0F0A-4749-A735-10C8F4DDAA78}"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8385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38F81C4-5D44-4DA9-8B70-E6DF1E342CDF}" type="datetimeFigureOut">
              <a:rPr lang="en-IN" smtClean="0"/>
              <a:t>16-04-2025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903AD0-0F0A-4749-A735-10C8F4DDAA78}" type="slidenum">
              <a:rPr lang="en-IN" smtClean="0"/>
              <a:t>‹#›</a:t>
            </a:fld>
            <a:endParaRPr lang="en-IN"/>
          </a:p>
        </p:txBody>
      </p:sp>
    </p:spTree>
    <p:extLst>
      <p:ext uri="{BB962C8B-B14F-4D97-AF65-F5344CB8AC3E}">
        <p14:creationId xmlns:p14="http://schemas.microsoft.com/office/powerpoint/2010/main" val="3323968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38F81C4-5D44-4DA9-8B70-E6DF1E342CDF}" type="datetimeFigureOut">
              <a:rPr lang="en-IN" smtClean="0"/>
              <a:t>16-04-2025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8903AD0-0F0A-4749-A735-10C8F4DDAA78}" type="slidenum">
              <a:rPr lang="en-IN" smtClean="0"/>
              <a:t>‹#›</a:t>
            </a:fld>
            <a:endParaRPr lang="en-IN"/>
          </a:p>
        </p:txBody>
      </p:sp>
    </p:spTree>
    <p:extLst>
      <p:ext uri="{BB962C8B-B14F-4D97-AF65-F5344CB8AC3E}">
        <p14:creationId xmlns:p14="http://schemas.microsoft.com/office/powerpoint/2010/main" val="704860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38F81C4-5D44-4DA9-8B70-E6DF1E342CDF}" type="datetimeFigureOut">
              <a:rPr lang="en-IN" smtClean="0"/>
              <a:t>16-04-2025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8903AD0-0F0A-4749-A735-10C8F4DDAA78}" type="slidenum">
              <a:rPr lang="en-IN" smtClean="0"/>
              <a:t>‹#›</a:t>
            </a:fld>
            <a:endParaRPr lang="en-IN"/>
          </a:p>
        </p:txBody>
      </p:sp>
    </p:spTree>
    <p:extLst>
      <p:ext uri="{BB962C8B-B14F-4D97-AF65-F5344CB8AC3E}">
        <p14:creationId xmlns:p14="http://schemas.microsoft.com/office/powerpoint/2010/main" val="227817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38F81C4-5D44-4DA9-8B70-E6DF1E342CDF}" type="datetimeFigureOut">
              <a:rPr lang="en-IN" smtClean="0"/>
              <a:t>16-04-2025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D8903AD0-0F0A-4749-A735-10C8F4DDAA78}" type="slidenum">
              <a:rPr lang="en-IN" smtClean="0"/>
              <a:t>‹#›</a:t>
            </a:fld>
            <a:endParaRPr lang="en-IN"/>
          </a:p>
        </p:txBody>
      </p:sp>
    </p:spTree>
    <p:extLst>
      <p:ext uri="{BB962C8B-B14F-4D97-AF65-F5344CB8AC3E}">
        <p14:creationId xmlns:p14="http://schemas.microsoft.com/office/powerpoint/2010/main" val="3117278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38F81C4-5D44-4DA9-8B70-E6DF1E342CDF}" type="datetimeFigureOut">
              <a:rPr lang="en-IN" smtClean="0"/>
              <a:t>16-04-2025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8903AD0-0F0A-4749-A735-10C8F4DDAA78}" type="slidenum">
              <a:rPr lang="en-IN" smtClean="0"/>
              <a:t>‹#›</a:t>
            </a:fld>
            <a:endParaRPr lang="en-IN"/>
          </a:p>
        </p:txBody>
      </p:sp>
    </p:spTree>
    <p:extLst>
      <p:ext uri="{BB962C8B-B14F-4D97-AF65-F5344CB8AC3E}">
        <p14:creationId xmlns:p14="http://schemas.microsoft.com/office/powerpoint/2010/main" val="3686856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8F81C4-5D44-4DA9-8B70-E6DF1E342CDF}" type="datetimeFigureOut">
              <a:rPr lang="en-IN" smtClean="0"/>
              <a:t>16-04-2025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903AD0-0F0A-4749-A735-10C8F4DDAA78}" type="slidenum">
              <a:rPr lang="en-IN" smtClean="0"/>
              <a:t>‹#›</a:t>
            </a:fld>
            <a:endParaRPr lang="en-IN"/>
          </a:p>
        </p:txBody>
      </p:sp>
    </p:spTree>
    <p:extLst>
      <p:ext uri="{BB962C8B-B14F-4D97-AF65-F5344CB8AC3E}">
        <p14:creationId xmlns:p14="http://schemas.microsoft.com/office/powerpoint/2010/main" val="2965074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8F81C4-5D44-4DA9-8B70-E6DF1E342CDF}" type="datetimeFigureOut">
              <a:rPr lang="en-IN" smtClean="0"/>
              <a:t>16-04-2025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903AD0-0F0A-4749-A735-10C8F4DDAA78}" type="slidenum">
              <a:rPr lang="en-IN" smtClean="0"/>
              <a:t>‹#›</a:t>
            </a:fld>
            <a:endParaRPr lang="en-IN"/>
          </a:p>
        </p:txBody>
      </p:sp>
    </p:spTree>
    <p:extLst>
      <p:ext uri="{BB962C8B-B14F-4D97-AF65-F5344CB8AC3E}">
        <p14:creationId xmlns:p14="http://schemas.microsoft.com/office/powerpoint/2010/main" val="321778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8F81C4-5D44-4DA9-8B70-E6DF1E342CDF}" type="datetimeFigureOut">
              <a:rPr lang="en-IN" smtClean="0"/>
              <a:t>16-04-2025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903AD0-0F0A-4749-A735-10C8F4DDAA78}" type="slidenum">
              <a:rPr lang="en-IN" smtClean="0"/>
              <a:t>‹#›</a:t>
            </a:fld>
            <a:endParaRPr lang="en-IN"/>
          </a:p>
        </p:txBody>
      </p:sp>
    </p:spTree>
    <p:extLst>
      <p:ext uri="{BB962C8B-B14F-4D97-AF65-F5344CB8AC3E}">
        <p14:creationId xmlns:p14="http://schemas.microsoft.com/office/powerpoint/2010/main" val="217992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38F81C4-5D44-4DA9-8B70-E6DF1E342CDF}" type="datetimeFigureOut">
              <a:rPr lang="en-IN" smtClean="0"/>
              <a:t>16-04-2025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8903AD0-0F0A-4749-A735-10C8F4DDAA78}"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1201510"/>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8.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DF49E-CFBF-CB89-F322-5F7EA31BA8B8}"/>
              </a:ext>
            </a:extLst>
          </p:cNvPr>
          <p:cNvSpPr>
            <a:spLocks noGrp="1"/>
          </p:cNvSpPr>
          <p:nvPr>
            <p:ph type="ctrTitle"/>
          </p:nvPr>
        </p:nvSpPr>
        <p:spPr>
          <a:xfrm>
            <a:off x="570368" y="448575"/>
            <a:ext cx="8609847" cy="7306100"/>
          </a:xfrm>
        </p:spPr>
        <p:txBody>
          <a:bodyPr>
            <a:normAutofit fontScale="90000"/>
          </a:bodyPr>
          <a:lstStyle/>
          <a:p>
            <a:pPr>
              <a:lnSpc>
                <a:spcPct val="150000"/>
              </a:lnSpc>
              <a:spcBef>
                <a:spcPts val="200"/>
              </a:spcBef>
              <a:spcAft>
                <a:spcPts val="200"/>
              </a:spcAft>
            </a:pP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r>
              <a:rPr lang="en-US" sz="3600" b="1" dirty="0">
                <a:solidFill>
                  <a:srgbClr val="7030A0"/>
                </a:solidFill>
                <a:latin typeface="Garamond"/>
              </a:rPr>
              <a:t>Smart Cane for Visually Impaired</a:t>
            </a:r>
            <a:br>
              <a:rPr lang="en-IN" sz="3600" b="1" dirty="0">
                <a:latin typeface="Garamond" panose="02020404030301010803" pitchFamily="18" charset="0"/>
              </a:rPr>
            </a:br>
            <a:br>
              <a:rPr lang="en-IN" sz="3600" b="1" dirty="0">
                <a:latin typeface="Garamond" panose="02020404030301010803" pitchFamily="18" charset="0"/>
              </a:rPr>
            </a:br>
            <a:r>
              <a:rPr lang="en-IN" sz="2600" b="1" dirty="0">
                <a:solidFill>
                  <a:schemeClr val="accent1"/>
                </a:solidFill>
                <a:latin typeface="Garamond"/>
              </a:rPr>
              <a:t>Team Members:</a:t>
            </a:r>
            <a:br>
              <a:rPr lang="en-IN" sz="3100" dirty="0">
                <a:solidFill>
                  <a:schemeClr val="accent1"/>
                </a:solidFill>
                <a:latin typeface="Garamond"/>
              </a:rPr>
            </a:br>
            <a:r>
              <a:rPr lang="en-IN" sz="2300" dirty="0">
                <a:solidFill>
                  <a:srgbClr val="7030A0"/>
                </a:solidFill>
                <a:latin typeface="Garamond" panose="02020404030301010803" pitchFamily="18" charset="0"/>
              </a:rPr>
              <a:t>1) 21BLC1472 – S Vinodh</a:t>
            </a:r>
            <a:br>
              <a:rPr lang="en-IN" sz="2300" dirty="0">
                <a:solidFill>
                  <a:srgbClr val="7030A0"/>
                </a:solidFill>
                <a:latin typeface="Garamond" panose="02020404030301010803" pitchFamily="18" charset="0"/>
              </a:rPr>
            </a:br>
            <a:r>
              <a:rPr lang="en-IN" sz="2300" dirty="0">
                <a:solidFill>
                  <a:srgbClr val="7030A0"/>
                </a:solidFill>
                <a:latin typeface="Garamond" panose="02020404030301010803" pitchFamily="18" charset="0"/>
              </a:rPr>
              <a:t>2) 21BLC1569 – A </a:t>
            </a:r>
            <a:r>
              <a:rPr lang="en-IN" sz="2300" dirty="0" err="1">
                <a:solidFill>
                  <a:srgbClr val="7030A0"/>
                </a:solidFill>
                <a:latin typeface="Garamond" panose="02020404030301010803" pitchFamily="18" charset="0"/>
              </a:rPr>
              <a:t>Navaneth</a:t>
            </a:r>
            <a:br>
              <a:rPr lang="en-IN" sz="2300" dirty="0">
                <a:solidFill>
                  <a:srgbClr val="7030A0"/>
                </a:solidFill>
                <a:latin typeface="Garamond" panose="02020404030301010803" pitchFamily="18" charset="0"/>
              </a:rPr>
            </a:br>
            <a:br>
              <a:rPr lang="en-IN" sz="3600" b="1" dirty="0">
                <a:latin typeface="Garamond" panose="02020404030301010803" pitchFamily="18" charset="0"/>
              </a:rPr>
            </a:br>
            <a:br>
              <a:rPr lang="en-IN" sz="6000" b="1" dirty="0">
                <a:latin typeface="Garamond" panose="02020404030301010803" pitchFamily="18" charset="0"/>
              </a:rPr>
            </a:br>
            <a:br>
              <a:rPr lang="en-IN" sz="8000" b="1" dirty="0">
                <a:latin typeface="Garamond" panose="02020404030301010803" pitchFamily="18" charset="0"/>
              </a:rPr>
            </a:br>
            <a:endParaRPr lang="en-IN" sz="3600" dirty="0">
              <a:solidFill>
                <a:schemeClr val="accent1"/>
              </a:solidFill>
              <a:cs typeface="Calibri Light" panose="020F0302020204030204"/>
            </a:endParaRPr>
          </a:p>
        </p:txBody>
      </p:sp>
      <p:sp>
        <p:nvSpPr>
          <p:cNvPr id="8" name="TextBox 7">
            <a:extLst>
              <a:ext uri="{FF2B5EF4-FFF2-40B4-BE49-F238E27FC236}">
                <a16:creationId xmlns:a16="http://schemas.microsoft.com/office/drawing/2014/main" id="{B00401B5-B61E-F226-097E-6DF56C9F2658}"/>
              </a:ext>
            </a:extLst>
          </p:cNvPr>
          <p:cNvSpPr txBox="1"/>
          <p:nvPr/>
        </p:nvSpPr>
        <p:spPr>
          <a:xfrm>
            <a:off x="570368" y="4899804"/>
            <a:ext cx="10559165" cy="815608"/>
          </a:xfrm>
          <a:prstGeom prst="rect">
            <a:avLst/>
          </a:prstGeom>
          <a:noFill/>
        </p:spPr>
        <p:txBody>
          <a:bodyPr wrap="square" lIns="91440" tIns="45720" rIns="91440" bIns="45720" rtlCol="0" anchor="t">
            <a:spAutoFit/>
          </a:bodyPr>
          <a:lstStyle/>
          <a:p>
            <a:r>
              <a:rPr lang="en-GB" sz="2300" b="1" dirty="0">
                <a:solidFill>
                  <a:schemeClr val="accent1"/>
                </a:solidFill>
                <a:latin typeface="Garamond"/>
                <a:cs typeface="Calibri"/>
              </a:rPr>
              <a:t>Project Guide </a:t>
            </a:r>
            <a:r>
              <a:rPr lang="en-GB" sz="2300" b="1" dirty="0">
                <a:solidFill>
                  <a:srgbClr val="7030A0"/>
                </a:solidFill>
                <a:latin typeface="Garamond"/>
                <a:cs typeface="Calibri"/>
              </a:rPr>
              <a:t>– </a:t>
            </a:r>
            <a:r>
              <a:rPr lang="en-GB" sz="2300" b="1" dirty="0" err="1">
                <a:solidFill>
                  <a:srgbClr val="7030A0"/>
                </a:solidFill>
                <a:latin typeface="Garamond"/>
                <a:cs typeface="Calibri"/>
              </a:rPr>
              <a:t>Dr.</a:t>
            </a:r>
            <a:r>
              <a:rPr lang="en-GB" sz="2300" b="1" dirty="0">
                <a:solidFill>
                  <a:srgbClr val="7030A0"/>
                </a:solidFill>
                <a:latin typeface="Garamond"/>
                <a:cs typeface="Calibri"/>
              </a:rPr>
              <a:t> </a:t>
            </a:r>
            <a:r>
              <a:rPr lang="en-US" sz="2300" b="1" dirty="0">
                <a:solidFill>
                  <a:srgbClr val="7030A0"/>
                </a:solidFill>
                <a:latin typeface="Garamond"/>
                <a:cs typeface="Calibri"/>
              </a:rPr>
              <a:t>Karthikeyan PR</a:t>
            </a:r>
            <a:endParaRPr lang="en-IN" sz="2400" b="1" i="0" dirty="0">
              <a:solidFill>
                <a:srgbClr val="343434"/>
              </a:solidFill>
              <a:effectLst/>
              <a:latin typeface="Roboto" panose="020F0502020204030204" pitchFamily="2" charset="0"/>
            </a:endParaRPr>
          </a:p>
          <a:p>
            <a:endParaRPr lang="en-GB" sz="2300" b="1" dirty="0">
              <a:solidFill>
                <a:srgbClr val="7030A0"/>
              </a:solidFill>
              <a:latin typeface="Garamond"/>
              <a:cs typeface="Calibri"/>
            </a:endParaRPr>
          </a:p>
        </p:txBody>
      </p:sp>
      <p:pic>
        <p:nvPicPr>
          <p:cNvPr id="3" name="Picture 2">
            <a:extLst>
              <a:ext uri="{FF2B5EF4-FFF2-40B4-BE49-F238E27FC236}">
                <a16:creationId xmlns:a16="http://schemas.microsoft.com/office/drawing/2014/main" id="{5AB7FB4D-D87E-2BEF-0F60-DB8A2A253816}"/>
              </a:ext>
            </a:extLst>
          </p:cNvPr>
          <p:cNvPicPr>
            <a:picLocks noChangeAspect="1"/>
          </p:cNvPicPr>
          <p:nvPr/>
        </p:nvPicPr>
        <p:blipFill>
          <a:blip r:embed="rId2"/>
          <a:stretch>
            <a:fillRect/>
          </a:stretch>
        </p:blipFill>
        <p:spPr>
          <a:xfrm>
            <a:off x="8682273" y="0"/>
            <a:ext cx="3509727" cy="3509727"/>
          </a:xfrm>
          <a:prstGeom prst="rect">
            <a:avLst/>
          </a:prstGeom>
        </p:spPr>
      </p:pic>
    </p:spTree>
    <p:extLst>
      <p:ext uri="{BB962C8B-B14F-4D97-AF65-F5344CB8AC3E}">
        <p14:creationId xmlns:p14="http://schemas.microsoft.com/office/powerpoint/2010/main" val="624864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5D5618-75F5-6F4D-E131-5D24BF159E11}"/>
              </a:ext>
            </a:extLst>
          </p:cNvPr>
          <p:cNvSpPr txBox="1"/>
          <p:nvPr/>
        </p:nvSpPr>
        <p:spPr>
          <a:xfrm>
            <a:off x="708057" y="709216"/>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Introduction</a:t>
            </a:r>
            <a:endParaRPr lang="en-IN" sz="3000" b="1" dirty="0"/>
          </a:p>
        </p:txBody>
      </p:sp>
      <p:sp>
        <p:nvSpPr>
          <p:cNvPr id="4" name="TextBox 3">
            <a:extLst>
              <a:ext uri="{FF2B5EF4-FFF2-40B4-BE49-F238E27FC236}">
                <a16:creationId xmlns:a16="http://schemas.microsoft.com/office/drawing/2014/main" id="{54B3C8E6-2D9D-01A5-B88F-366C86D08929}"/>
              </a:ext>
            </a:extLst>
          </p:cNvPr>
          <p:cNvSpPr txBox="1"/>
          <p:nvPr/>
        </p:nvSpPr>
        <p:spPr>
          <a:xfrm>
            <a:off x="708057" y="1263214"/>
            <a:ext cx="11070501" cy="615553"/>
          </a:xfrm>
          <a:prstGeom prst="rect">
            <a:avLst/>
          </a:prstGeom>
          <a:noFill/>
        </p:spPr>
        <p:txBody>
          <a:bodyPr wrap="square" rtlCol="0">
            <a:spAutoFit/>
          </a:bodyPr>
          <a:lstStyle/>
          <a:p>
            <a:endParaRPr lang="en-IN" sz="1600" dirty="0">
              <a:effectLst/>
              <a:latin typeface="Garamond" panose="02020404030301010803" pitchFamily="18" charset="0"/>
              <a:ea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84A0A0E2-0DF3-050A-C8C9-8D7E80622F06}"/>
              </a:ext>
            </a:extLst>
          </p:cNvPr>
          <p:cNvSpPr txBox="1"/>
          <p:nvPr/>
        </p:nvSpPr>
        <p:spPr>
          <a:xfrm>
            <a:off x="708057" y="1380430"/>
            <a:ext cx="9483693" cy="4503797"/>
          </a:xfrm>
          <a:prstGeom prst="rect">
            <a:avLst/>
          </a:prstGeom>
          <a:noFill/>
        </p:spPr>
        <p:txBody>
          <a:bodyPr wrap="square">
            <a:spAutoFit/>
          </a:bodyPr>
          <a:lstStyle/>
          <a:p>
            <a:pPr>
              <a:spcAft>
                <a:spcPts val="2000"/>
              </a:spcAft>
            </a:pPr>
            <a:r>
              <a:rPr lang="en-IN" sz="2300" b="1" dirty="0">
                <a:solidFill>
                  <a:srgbClr val="7030A0"/>
                </a:solidFill>
                <a:latin typeface="Garamond" panose="02020404030301010803" pitchFamily="18" charset="0"/>
              </a:rPr>
              <a:t>Motivation and Background</a:t>
            </a:r>
          </a:p>
          <a:p>
            <a:pPr marL="342900" marR="0" lvl="0" indent="-342900" algn="just" defTabSz="914400" rtl="0" eaLnBrk="0" fontAlgn="base" latinLnBrk="0" hangingPunct="0">
              <a:lnSpc>
                <a:spcPct val="100000"/>
              </a:lnSpc>
              <a:spcBef>
                <a:spcPct val="0"/>
              </a:spcBef>
              <a:spcAft>
                <a:spcPts val="600"/>
              </a:spcAft>
              <a:buClrTx/>
              <a:buSzTx/>
              <a:buFont typeface="Wingdings" panose="05000000000000000000" pitchFamily="2" charset="2"/>
              <a:buChar char="v"/>
              <a:tabLst/>
            </a:pPr>
            <a:r>
              <a:rPr kumimoji="0" lang="en-US" altLang="en-US" sz="2100" b="0" i="0" u="none" strike="noStrike" cap="none" normalizeH="0" baseline="0" dirty="0">
                <a:ln>
                  <a:noFill/>
                </a:ln>
                <a:solidFill>
                  <a:schemeClr val="tx1"/>
                </a:solidFill>
                <a:effectLst/>
                <a:latin typeface="Garamond" panose="02020404030301010803" pitchFamily="18" charset="0"/>
              </a:rPr>
              <a:t>Visual impairment affects millions globally, significantly limiting their independence and mobility in daily life.</a:t>
            </a:r>
          </a:p>
          <a:p>
            <a:pPr marL="342900" marR="0" lvl="0" indent="-342900" algn="just" defTabSz="914400" rtl="0" eaLnBrk="0" fontAlgn="base" latinLnBrk="0" hangingPunct="0">
              <a:lnSpc>
                <a:spcPct val="100000"/>
              </a:lnSpc>
              <a:spcBef>
                <a:spcPct val="0"/>
              </a:spcBef>
              <a:spcAft>
                <a:spcPts val="600"/>
              </a:spcAft>
              <a:buClrTx/>
              <a:buSzTx/>
              <a:buFont typeface="Wingdings" panose="05000000000000000000" pitchFamily="2" charset="2"/>
              <a:buChar char="v"/>
              <a:tabLst/>
            </a:pPr>
            <a:r>
              <a:rPr kumimoji="0" lang="en-US" altLang="en-US" sz="2100" b="0" i="0" u="none" strike="noStrike" cap="none" normalizeH="0" baseline="0" dirty="0">
                <a:ln>
                  <a:noFill/>
                </a:ln>
                <a:solidFill>
                  <a:schemeClr val="tx1"/>
                </a:solidFill>
                <a:effectLst/>
                <a:latin typeface="Garamond" panose="02020404030301010803" pitchFamily="18" charset="0"/>
              </a:rPr>
              <a:t>Conventional white canes are passive tools that help detect obstacles only within their physical range, offering minimal assistance in complex environments such as crowded streets, traffic intersections, or unfamiliar areas.</a:t>
            </a:r>
          </a:p>
          <a:p>
            <a:pPr marL="342900" marR="0" lvl="0" indent="-342900" algn="just" defTabSz="914400" rtl="0" eaLnBrk="0" fontAlgn="base" latinLnBrk="0" hangingPunct="0">
              <a:lnSpc>
                <a:spcPct val="100000"/>
              </a:lnSpc>
              <a:spcBef>
                <a:spcPct val="0"/>
              </a:spcBef>
              <a:spcAft>
                <a:spcPts val="600"/>
              </a:spcAft>
              <a:buClrTx/>
              <a:buSzTx/>
              <a:buFont typeface="Wingdings" panose="05000000000000000000" pitchFamily="2" charset="2"/>
              <a:buChar char="v"/>
              <a:tabLst/>
            </a:pPr>
            <a:r>
              <a:rPr kumimoji="0" lang="en-US" altLang="en-US" sz="2100" b="0" i="0" u="none" strike="noStrike" cap="none" normalizeH="0" baseline="0" dirty="0">
                <a:ln>
                  <a:noFill/>
                </a:ln>
                <a:solidFill>
                  <a:schemeClr val="tx1"/>
                </a:solidFill>
                <a:effectLst/>
                <a:latin typeface="Garamond" panose="02020404030301010803" pitchFamily="18" charset="0"/>
              </a:rPr>
              <a:t>There is a growing need for smarter assistive technologies that go beyond basic obstacle detection and provide real-time situational awareness, navigation, and emergency alerts.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100" i="0" u="none" strike="noStrike" cap="none" normalizeH="0" baseline="0" dirty="0">
                <a:ln>
                  <a:noFill/>
                </a:ln>
                <a:solidFill>
                  <a:schemeClr val="tx1"/>
                </a:solidFill>
                <a:effectLst/>
                <a:latin typeface="Garamond" panose="02020404030301010803" pitchFamily="18" charset="0"/>
              </a:rPr>
              <a:t>Recent advancements in embedded systems, IoT, and wireless communication make it possible to design cost-effective, intelligent mobility aids for the visually impaired.</a:t>
            </a:r>
          </a:p>
          <a:p>
            <a:pPr>
              <a:spcAft>
                <a:spcPts val="1000"/>
              </a:spcAft>
            </a:pPr>
            <a:endParaRPr lang="en-US" sz="2200" dirty="0">
              <a:solidFill>
                <a:srgbClr val="7030A0"/>
              </a:solidFill>
              <a:latin typeface="Garamond" panose="02020404030301010803" pitchFamily="18" charset="0"/>
            </a:endParaRPr>
          </a:p>
        </p:txBody>
      </p:sp>
    </p:spTree>
    <p:extLst>
      <p:ext uri="{BB962C8B-B14F-4D97-AF65-F5344CB8AC3E}">
        <p14:creationId xmlns:p14="http://schemas.microsoft.com/office/powerpoint/2010/main" val="2244366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4FA14-ABC3-0DDF-DF72-364CCF7379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83D2539-5C22-8DB5-82E3-D0D1C0C3FD1F}"/>
              </a:ext>
            </a:extLst>
          </p:cNvPr>
          <p:cNvSpPr txBox="1"/>
          <p:nvPr/>
        </p:nvSpPr>
        <p:spPr>
          <a:xfrm>
            <a:off x="708057" y="709216"/>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Introduction</a:t>
            </a:r>
            <a:endParaRPr lang="en-IN" sz="3000" b="1" dirty="0"/>
          </a:p>
        </p:txBody>
      </p:sp>
      <p:sp>
        <p:nvSpPr>
          <p:cNvPr id="4" name="TextBox 3">
            <a:extLst>
              <a:ext uri="{FF2B5EF4-FFF2-40B4-BE49-F238E27FC236}">
                <a16:creationId xmlns:a16="http://schemas.microsoft.com/office/drawing/2014/main" id="{4D15D6D4-1E6F-760D-A5D8-7D768C5BB1C2}"/>
              </a:ext>
            </a:extLst>
          </p:cNvPr>
          <p:cNvSpPr txBox="1"/>
          <p:nvPr/>
        </p:nvSpPr>
        <p:spPr>
          <a:xfrm>
            <a:off x="708057" y="1263214"/>
            <a:ext cx="11070501" cy="615553"/>
          </a:xfrm>
          <a:prstGeom prst="rect">
            <a:avLst/>
          </a:prstGeom>
          <a:noFill/>
        </p:spPr>
        <p:txBody>
          <a:bodyPr wrap="square" rtlCol="0">
            <a:spAutoFit/>
          </a:bodyPr>
          <a:lstStyle/>
          <a:p>
            <a:endParaRPr lang="en-IN" sz="1600" dirty="0">
              <a:effectLst/>
              <a:latin typeface="Garamond" panose="02020404030301010803" pitchFamily="18" charset="0"/>
              <a:ea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2B03274C-3DCC-24AB-D9D4-83F24C3CFEFA}"/>
              </a:ext>
            </a:extLst>
          </p:cNvPr>
          <p:cNvSpPr txBox="1"/>
          <p:nvPr/>
        </p:nvSpPr>
        <p:spPr>
          <a:xfrm>
            <a:off x="708057" y="1380430"/>
            <a:ext cx="8312118" cy="4401205"/>
          </a:xfrm>
          <a:prstGeom prst="rect">
            <a:avLst/>
          </a:prstGeom>
          <a:noFill/>
        </p:spPr>
        <p:txBody>
          <a:bodyPr wrap="square">
            <a:spAutoFit/>
          </a:bodyPr>
          <a:lstStyle/>
          <a:p>
            <a:pPr>
              <a:spcAft>
                <a:spcPts val="2000"/>
              </a:spcAft>
            </a:pPr>
            <a:r>
              <a:rPr lang="en-US" sz="2300" b="1" dirty="0">
                <a:solidFill>
                  <a:srgbClr val="7030A0"/>
                </a:solidFill>
                <a:latin typeface="Garamond" panose="02020404030301010803" pitchFamily="18" charset="0"/>
              </a:rPr>
              <a:t>Overview of the Smart Cane System</a:t>
            </a:r>
          </a:p>
          <a:p>
            <a:pPr marL="0" marR="0" lvl="0" indent="0" algn="l" defTabSz="914400" rtl="0" eaLnBrk="0" fontAlgn="base" latinLnBrk="0" hangingPunct="0">
              <a:lnSpc>
                <a:spcPct val="100000"/>
              </a:lnSpc>
              <a:spcBef>
                <a:spcPct val="0"/>
              </a:spcBef>
              <a:spcAft>
                <a:spcPts val="600"/>
              </a:spcAft>
              <a:buClrTx/>
              <a:buSzTx/>
              <a:tabLst/>
              <a:defRPr/>
            </a:pPr>
            <a:r>
              <a:rPr kumimoji="0" lang="en-US" altLang="en-US" sz="2000" b="0" i="0" u="none" strike="noStrike" kern="1200" cap="none" spc="0" normalizeH="0" baseline="0" noProof="0" dirty="0">
                <a:ln>
                  <a:noFill/>
                </a:ln>
                <a:solidFill>
                  <a:prstClr val="black"/>
                </a:solidFill>
                <a:effectLst/>
                <a:uLnTx/>
                <a:uFillTx/>
                <a:latin typeface="Garamond" panose="02020404030301010803" pitchFamily="18" charset="0"/>
              </a:rPr>
              <a:t>This project proposes a </a:t>
            </a:r>
            <a:r>
              <a:rPr kumimoji="0" lang="en-US" altLang="en-US" sz="2000" i="0" u="none" strike="noStrike" kern="1200" cap="none" spc="0" normalizeH="0" baseline="0" noProof="0" dirty="0">
                <a:ln>
                  <a:noFill/>
                </a:ln>
                <a:solidFill>
                  <a:prstClr val="black"/>
                </a:solidFill>
                <a:effectLst/>
                <a:uLnTx/>
                <a:uFillTx/>
                <a:latin typeface="Garamond" panose="02020404030301010803" pitchFamily="18" charset="0"/>
              </a:rPr>
              <a:t>Smart Cane </a:t>
            </a:r>
            <a:r>
              <a:rPr kumimoji="0" lang="en-US" altLang="en-US" sz="2000" b="0" i="0" u="none" strike="noStrike" kern="1200" cap="none" spc="0" normalizeH="0" baseline="0" noProof="0" dirty="0">
                <a:ln>
                  <a:noFill/>
                </a:ln>
                <a:solidFill>
                  <a:prstClr val="black"/>
                </a:solidFill>
                <a:effectLst/>
                <a:uLnTx/>
                <a:uFillTx/>
                <a:latin typeface="Garamond" panose="02020404030301010803" pitchFamily="18" charset="0"/>
              </a:rPr>
              <a:t>that integrates sensor-based monitoring, cloud-based data handling, and mobile communication to assist visually impaired users.</a:t>
            </a:r>
          </a:p>
          <a:p>
            <a:pPr marL="0" marR="0" lvl="0" indent="0" algn="l" defTabSz="914400" rtl="0" eaLnBrk="0" fontAlgn="base" latinLnBrk="0" hangingPunct="0">
              <a:lnSpc>
                <a:spcPct val="100000"/>
              </a:lnSpc>
              <a:spcBef>
                <a:spcPct val="0"/>
              </a:spcBef>
              <a:spcAft>
                <a:spcPts val="600"/>
              </a:spcAft>
              <a:buClrTx/>
              <a:buSzTx/>
              <a:tabLst/>
              <a:defRPr/>
            </a:pPr>
            <a:r>
              <a:rPr kumimoji="0" lang="en-US" altLang="en-US" sz="2000" b="0" i="0" u="none" strike="noStrike" kern="1200" cap="none" spc="0" normalizeH="0" baseline="0" noProof="0" dirty="0">
                <a:ln>
                  <a:noFill/>
                </a:ln>
                <a:solidFill>
                  <a:prstClr val="black"/>
                </a:solidFill>
                <a:effectLst/>
                <a:uLnTx/>
                <a:uFillTx/>
                <a:latin typeface="Garamond" panose="02020404030301010803" pitchFamily="18" charset="0"/>
              </a:rPr>
              <a:t>Core components of the system include: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altLang="en-US" sz="2000" b="1" i="0" u="none" strike="noStrike" kern="1200" cap="none" spc="0" normalizeH="0" baseline="0" noProof="0" dirty="0">
                <a:ln>
                  <a:noFill/>
                </a:ln>
                <a:solidFill>
                  <a:prstClr val="black"/>
                </a:solidFill>
                <a:effectLst/>
                <a:uLnTx/>
                <a:uFillTx/>
                <a:latin typeface="Garamond" panose="02020404030301010803" pitchFamily="18" charset="0"/>
              </a:rPr>
              <a:t>Obstacle Detection</a:t>
            </a:r>
            <a:r>
              <a:rPr kumimoji="0" lang="en-US" altLang="en-US" sz="2000" b="0" i="0" u="none" strike="noStrike" kern="1200" cap="none" spc="0" normalizeH="0" baseline="0" noProof="0" dirty="0">
                <a:ln>
                  <a:noFill/>
                </a:ln>
                <a:solidFill>
                  <a:prstClr val="black"/>
                </a:solidFill>
                <a:effectLst/>
                <a:uLnTx/>
                <a:uFillTx/>
                <a:latin typeface="Garamond" panose="02020404030301010803" pitchFamily="18" charset="0"/>
              </a:rPr>
              <a:t> to prevent collisions.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altLang="en-US" sz="2000" b="1" i="0" u="none" strike="noStrike" kern="1200" cap="none" spc="0" normalizeH="0" baseline="0" noProof="0" dirty="0">
                <a:ln>
                  <a:noFill/>
                </a:ln>
                <a:solidFill>
                  <a:prstClr val="black"/>
                </a:solidFill>
                <a:effectLst/>
                <a:uLnTx/>
                <a:uFillTx/>
                <a:latin typeface="Garamond" panose="02020404030301010803" pitchFamily="18" charset="0"/>
              </a:rPr>
              <a:t>Fall Detection</a:t>
            </a:r>
            <a:r>
              <a:rPr kumimoji="0" lang="en-US" altLang="en-US" sz="2000" b="0" i="0" u="none" strike="noStrike" kern="1200" cap="none" spc="0" normalizeH="0" baseline="0" noProof="0" dirty="0">
                <a:ln>
                  <a:noFill/>
                </a:ln>
                <a:solidFill>
                  <a:prstClr val="black"/>
                </a:solidFill>
                <a:effectLst/>
                <a:uLnTx/>
                <a:uFillTx/>
                <a:latin typeface="Garamond" panose="02020404030301010803" pitchFamily="18" charset="0"/>
              </a:rPr>
              <a:t> with instant caretaker notifications.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defRPr/>
            </a:pPr>
            <a:r>
              <a:rPr kumimoji="0" lang="en-US" altLang="en-US" sz="2000" b="1" i="0" u="none" strike="noStrike" kern="1200" cap="none" spc="0" normalizeH="0" baseline="0" noProof="0" dirty="0">
                <a:ln>
                  <a:noFill/>
                </a:ln>
                <a:solidFill>
                  <a:prstClr val="black"/>
                </a:solidFill>
                <a:effectLst/>
                <a:uLnTx/>
                <a:uFillTx/>
                <a:latin typeface="Garamond" panose="02020404030301010803" pitchFamily="18" charset="0"/>
              </a:rPr>
              <a:t>GPS Location Tracking</a:t>
            </a:r>
            <a:r>
              <a:rPr kumimoji="0" lang="en-US" altLang="en-US" sz="2000" b="0" i="0" u="none" strike="noStrike" kern="1200" cap="none" spc="0" normalizeH="0" baseline="0" noProof="0" dirty="0">
                <a:ln>
                  <a:noFill/>
                </a:ln>
                <a:solidFill>
                  <a:prstClr val="black"/>
                </a:solidFill>
                <a:effectLst/>
                <a:uLnTx/>
                <a:uFillTx/>
                <a:latin typeface="Garamond" panose="02020404030301010803" pitchFamily="18" charset="0"/>
              </a:rPr>
              <a:t> for real-time monitoring.</a:t>
            </a:r>
          </a:p>
          <a:p>
            <a:pPr marL="342900" marR="0" lvl="0" indent="-342900" algn="l" defTabSz="914400" rtl="0" eaLnBrk="0" fontAlgn="base" latinLnBrk="0" hangingPunct="0">
              <a:lnSpc>
                <a:spcPct val="100000"/>
              </a:lnSpc>
              <a:spcBef>
                <a:spcPct val="0"/>
              </a:spcBef>
              <a:spcAft>
                <a:spcPts val="1000"/>
              </a:spcAft>
              <a:buClrTx/>
              <a:buSzTx/>
              <a:buFont typeface="Wingdings" panose="05000000000000000000" pitchFamily="2" charset="2"/>
              <a:buChar char="§"/>
              <a:tabLst/>
              <a:defRPr/>
            </a:pPr>
            <a:r>
              <a:rPr kumimoji="0" lang="en-US" altLang="en-US" sz="2000" b="1" i="0" u="none" strike="noStrike" kern="1200" cap="none" spc="0" normalizeH="0" baseline="0" noProof="0" dirty="0">
                <a:ln>
                  <a:noFill/>
                </a:ln>
                <a:solidFill>
                  <a:prstClr val="black"/>
                </a:solidFill>
                <a:effectLst/>
                <a:uLnTx/>
                <a:uFillTx/>
                <a:latin typeface="Garamond" panose="02020404030301010803" pitchFamily="18" charset="0"/>
              </a:rPr>
              <a:t>Turn-by-Turn Navigation</a:t>
            </a:r>
            <a:r>
              <a:rPr kumimoji="0" lang="en-US" altLang="en-US" sz="2000" b="0" i="0" u="none" strike="noStrike" kern="1200" cap="none" spc="0" normalizeH="0" baseline="0" noProof="0" dirty="0">
                <a:ln>
                  <a:noFill/>
                </a:ln>
                <a:solidFill>
                  <a:prstClr val="black"/>
                </a:solidFill>
                <a:effectLst/>
                <a:uLnTx/>
                <a:uFillTx/>
                <a:latin typeface="Garamond" panose="02020404030301010803" pitchFamily="18" charset="0"/>
              </a:rPr>
              <a:t> using audio feedback.</a:t>
            </a:r>
          </a:p>
          <a:p>
            <a:pPr marL="0" marR="0" lvl="0" indent="0" algn="l" defTabSz="914400" rtl="0" eaLnBrk="0" fontAlgn="base" latinLnBrk="0" hangingPunct="0">
              <a:lnSpc>
                <a:spcPct val="100000"/>
              </a:lnSpc>
              <a:spcBef>
                <a:spcPct val="0"/>
              </a:spcBef>
              <a:spcAft>
                <a:spcPct val="0"/>
              </a:spcAft>
              <a:buClrTx/>
              <a:buSzTx/>
              <a:tabLst/>
              <a:defRPr/>
            </a:pPr>
            <a:r>
              <a:rPr kumimoji="0" lang="en-US" altLang="en-US" sz="2000" b="0" i="0" u="none" strike="noStrike" kern="1200" cap="none" spc="0" normalizeH="0" baseline="0" noProof="0" dirty="0">
                <a:ln>
                  <a:noFill/>
                </a:ln>
                <a:solidFill>
                  <a:prstClr val="black"/>
                </a:solidFill>
                <a:effectLst/>
                <a:uLnTx/>
                <a:uFillTx/>
                <a:latin typeface="Garamond" panose="02020404030301010803" pitchFamily="18" charset="0"/>
              </a:rPr>
              <a:t>A companion mobile application enables caregivers to receive alerts, track location, and remotely assist the user if needed.</a:t>
            </a:r>
          </a:p>
          <a:p>
            <a:pPr>
              <a:spcAft>
                <a:spcPts val="1000"/>
              </a:spcAft>
            </a:pPr>
            <a:endParaRPr lang="en-US" sz="2200" dirty="0">
              <a:solidFill>
                <a:srgbClr val="7030A0"/>
              </a:solidFill>
              <a:latin typeface="Garamond" panose="02020404030301010803" pitchFamily="18" charset="0"/>
            </a:endParaRPr>
          </a:p>
        </p:txBody>
      </p:sp>
    </p:spTree>
    <p:extLst>
      <p:ext uri="{BB962C8B-B14F-4D97-AF65-F5344CB8AC3E}">
        <p14:creationId xmlns:p14="http://schemas.microsoft.com/office/powerpoint/2010/main" val="2935862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C3008-5374-4E6D-F5FC-4B6BB6DDDB4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3DDBD0F-5E9A-872A-8A4E-FD233BB24FEF}"/>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Problem Statement</a:t>
            </a:r>
            <a:endParaRPr lang="en-IN" sz="3000" b="1" dirty="0"/>
          </a:p>
        </p:txBody>
      </p:sp>
      <p:sp>
        <p:nvSpPr>
          <p:cNvPr id="4" name="TextBox 3">
            <a:extLst>
              <a:ext uri="{FF2B5EF4-FFF2-40B4-BE49-F238E27FC236}">
                <a16:creationId xmlns:a16="http://schemas.microsoft.com/office/drawing/2014/main" id="{F0C440D1-1B2C-E216-1BD1-B35350DF7992}"/>
              </a:ext>
            </a:extLst>
          </p:cNvPr>
          <p:cNvSpPr txBox="1"/>
          <p:nvPr/>
        </p:nvSpPr>
        <p:spPr>
          <a:xfrm>
            <a:off x="708057" y="1176950"/>
            <a:ext cx="11070501" cy="615553"/>
          </a:xfrm>
          <a:prstGeom prst="rect">
            <a:avLst/>
          </a:prstGeom>
          <a:noFill/>
        </p:spPr>
        <p:txBody>
          <a:bodyPr wrap="square" rtlCol="0">
            <a:spAutoFit/>
          </a:bodyPr>
          <a:lstStyle/>
          <a:p>
            <a:endParaRPr lang="en-IN" sz="1600" dirty="0">
              <a:effectLst/>
              <a:latin typeface="Garamond" panose="02020404030301010803" pitchFamily="18" charset="0"/>
              <a:ea typeface="Times New Roman" panose="02020603050405020304" pitchFamily="18" charset="0"/>
            </a:endParaRPr>
          </a:p>
          <a:p>
            <a:endParaRPr lang="en-IN" dirty="0"/>
          </a:p>
        </p:txBody>
      </p:sp>
      <p:sp>
        <p:nvSpPr>
          <p:cNvPr id="2" name="TextBox 1">
            <a:extLst>
              <a:ext uri="{FF2B5EF4-FFF2-40B4-BE49-F238E27FC236}">
                <a16:creationId xmlns:a16="http://schemas.microsoft.com/office/drawing/2014/main" id="{680668B8-C609-767E-F6BB-4956D1FE893E}"/>
              </a:ext>
            </a:extLst>
          </p:cNvPr>
          <p:cNvSpPr txBox="1"/>
          <p:nvPr/>
        </p:nvSpPr>
        <p:spPr>
          <a:xfrm>
            <a:off x="622333" y="1306096"/>
            <a:ext cx="9588468" cy="4816703"/>
          </a:xfrm>
          <a:prstGeom prst="rect">
            <a:avLst/>
          </a:prstGeom>
          <a:noFill/>
        </p:spPr>
        <p:txBody>
          <a:bodyPr wrap="square" rtlCol="0">
            <a:spAutoFit/>
          </a:bodyPr>
          <a:lstStyle/>
          <a:p>
            <a:pPr marL="400050" marR="0" lvl="0" indent="-400050" algn="just" defTabSz="914400" rtl="0" eaLnBrk="0" fontAlgn="base" latinLnBrk="0" hangingPunct="0">
              <a:lnSpc>
                <a:spcPct val="100000"/>
              </a:lnSpc>
              <a:spcBef>
                <a:spcPct val="0"/>
              </a:spcBef>
              <a:spcAft>
                <a:spcPts val="1200"/>
              </a:spcAft>
              <a:buClrTx/>
              <a:buSzTx/>
              <a:buFont typeface="Wingdings" panose="05000000000000000000" pitchFamily="2" charset="2"/>
              <a:buChar char="v"/>
              <a:tabLst/>
            </a:pPr>
            <a:r>
              <a:rPr kumimoji="0" lang="en-US" altLang="en-US" sz="1650" b="1" i="0" u="none" strike="noStrike" cap="none" normalizeH="0" baseline="0" dirty="0">
                <a:ln>
                  <a:noFill/>
                </a:ln>
                <a:solidFill>
                  <a:srgbClr val="7030A0"/>
                </a:solidFill>
                <a:effectLst/>
                <a:latin typeface="Garamond" panose="02020404030301010803" pitchFamily="18" charset="0"/>
              </a:rPr>
              <a:t>Limited Situational Awareness for the Visually Impaired</a:t>
            </a:r>
            <a:r>
              <a:rPr lang="en-US" altLang="en-US" sz="1650" b="1" dirty="0">
                <a:solidFill>
                  <a:srgbClr val="7030A0"/>
                </a:solidFill>
                <a:latin typeface="Garamond" panose="02020404030301010803" pitchFamily="18" charset="0"/>
              </a:rPr>
              <a:t>: </a:t>
            </a:r>
            <a:r>
              <a:rPr kumimoji="0" lang="en-US" altLang="en-US" sz="1650" b="0" i="0" u="none" strike="noStrike" cap="none" normalizeH="0" baseline="0" dirty="0">
                <a:ln>
                  <a:noFill/>
                </a:ln>
                <a:solidFill>
                  <a:schemeClr val="tx1"/>
                </a:solidFill>
                <a:effectLst/>
                <a:latin typeface="Garamond" panose="02020404030301010803" pitchFamily="18" charset="0"/>
              </a:rPr>
              <a:t>Navigating public and unfamiliar environments remains a significant challenge for visually impaired individuals, especially due to their reliance on basic white canes that offer no proactive sensing of obstacles or environmental context.</a:t>
            </a:r>
          </a:p>
          <a:p>
            <a:pPr marL="400050" marR="0" lvl="0" indent="-400050" algn="just" defTabSz="914400" rtl="0" eaLnBrk="0" fontAlgn="base" latinLnBrk="0" hangingPunct="0">
              <a:lnSpc>
                <a:spcPct val="100000"/>
              </a:lnSpc>
              <a:spcBef>
                <a:spcPct val="0"/>
              </a:spcBef>
              <a:spcAft>
                <a:spcPts val="1200"/>
              </a:spcAft>
              <a:buClrTx/>
              <a:buSzTx/>
              <a:buFont typeface="Wingdings" panose="05000000000000000000" pitchFamily="2" charset="2"/>
              <a:buChar char="v"/>
              <a:tabLst/>
            </a:pPr>
            <a:r>
              <a:rPr kumimoji="0" lang="en-US" altLang="en-US" sz="1650" b="1" i="0" u="none" strike="noStrike" cap="none" normalizeH="0" baseline="0" dirty="0">
                <a:ln>
                  <a:noFill/>
                </a:ln>
                <a:solidFill>
                  <a:srgbClr val="7030A0"/>
                </a:solidFill>
                <a:effectLst/>
                <a:latin typeface="Garamond" panose="02020404030301010803" pitchFamily="18" charset="0"/>
              </a:rPr>
              <a:t>High Risk in Dynamic Outdoor Environments:</a:t>
            </a:r>
            <a:r>
              <a:rPr lang="en-US" altLang="en-US" sz="1650" dirty="0">
                <a:latin typeface="Garamond" panose="02020404030301010803" pitchFamily="18" charset="0"/>
              </a:rPr>
              <a:t> </a:t>
            </a:r>
            <a:r>
              <a:rPr kumimoji="0" lang="en-US" altLang="en-US" sz="1650" b="0" i="0" u="none" strike="noStrike" cap="none" normalizeH="0" baseline="0" dirty="0">
                <a:ln>
                  <a:noFill/>
                </a:ln>
                <a:solidFill>
                  <a:schemeClr val="tx1"/>
                </a:solidFill>
                <a:effectLst/>
                <a:latin typeface="Garamond" panose="02020404030301010803" pitchFamily="18" charset="0"/>
              </a:rPr>
              <a:t>Environments such as busy streets, crowded areas, and uneven terrains present risks of collisions, falls, or disorientation. Without smart assistance, users face difficulties in maintaining safety and independence.</a:t>
            </a:r>
          </a:p>
          <a:p>
            <a:pPr marL="400050" marR="0" lvl="0" indent="-400050" algn="just" defTabSz="914400" rtl="0" eaLnBrk="0" fontAlgn="base" latinLnBrk="0" hangingPunct="0">
              <a:lnSpc>
                <a:spcPct val="100000"/>
              </a:lnSpc>
              <a:spcBef>
                <a:spcPct val="0"/>
              </a:spcBef>
              <a:spcAft>
                <a:spcPts val="1200"/>
              </a:spcAft>
              <a:buClrTx/>
              <a:buSzTx/>
              <a:buFont typeface="Wingdings" panose="05000000000000000000" pitchFamily="2" charset="2"/>
              <a:buChar char="v"/>
              <a:tabLst/>
            </a:pPr>
            <a:r>
              <a:rPr kumimoji="0" lang="en-US" altLang="en-US" sz="1650" b="1" i="0" u="none" strike="noStrike" cap="none" normalizeH="0" baseline="0" dirty="0">
                <a:ln>
                  <a:noFill/>
                </a:ln>
                <a:solidFill>
                  <a:srgbClr val="7030A0"/>
                </a:solidFill>
                <a:effectLst/>
                <a:latin typeface="Garamond" panose="02020404030301010803" pitchFamily="18" charset="0"/>
              </a:rPr>
              <a:t>Delayed Emergency Response in Fall Incidents:</a:t>
            </a:r>
            <a:r>
              <a:rPr lang="en-US" altLang="en-US" sz="1650" dirty="0">
                <a:latin typeface="Garamond" panose="02020404030301010803" pitchFamily="18" charset="0"/>
              </a:rPr>
              <a:t> </a:t>
            </a:r>
            <a:r>
              <a:rPr kumimoji="0" lang="en-US" altLang="en-US" sz="1650" b="0" i="0" u="none" strike="noStrike" cap="none" normalizeH="0" baseline="0" dirty="0">
                <a:ln>
                  <a:noFill/>
                </a:ln>
                <a:solidFill>
                  <a:schemeClr val="tx1"/>
                </a:solidFill>
                <a:effectLst/>
                <a:latin typeface="Garamond" panose="02020404030301010803" pitchFamily="18" charset="0"/>
              </a:rPr>
              <a:t>In cases of accidental falls, visually impaired individuals may not be able to call for help promptly. The absence of an automatic detection and alert mechanism can lead to delayed medical attention or caregiver intervention.</a:t>
            </a:r>
          </a:p>
          <a:p>
            <a:pPr marL="400050" marR="0" lvl="0" indent="-400050" algn="just" defTabSz="914400" rtl="0" eaLnBrk="0" fontAlgn="base" latinLnBrk="0" hangingPunct="0">
              <a:lnSpc>
                <a:spcPct val="100000"/>
              </a:lnSpc>
              <a:spcBef>
                <a:spcPct val="0"/>
              </a:spcBef>
              <a:spcAft>
                <a:spcPts val="1200"/>
              </a:spcAft>
              <a:buClrTx/>
              <a:buSzTx/>
              <a:buFont typeface="Wingdings" panose="05000000000000000000" pitchFamily="2" charset="2"/>
              <a:buChar char="v"/>
              <a:tabLst/>
            </a:pPr>
            <a:r>
              <a:rPr kumimoji="0" lang="en-US" altLang="en-US" sz="1650" b="1" i="0" u="none" strike="noStrike" cap="none" normalizeH="0" baseline="0" dirty="0">
                <a:ln>
                  <a:noFill/>
                </a:ln>
                <a:solidFill>
                  <a:srgbClr val="7030A0"/>
                </a:solidFill>
                <a:effectLst/>
                <a:latin typeface="Garamond" panose="02020404030301010803" pitchFamily="18" charset="0"/>
              </a:rPr>
              <a:t>Lack of Real-Time Connectivity with Caregivers:</a:t>
            </a:r>
            <a:r>
              <a:rPr lang="en-US" altLang="en-US" sz="1650" dirty="0">
                <a:latin typeface="Garamond" panose="02020404030301010803" pitchFamily="18" charset="0"/>
              </a:rPr>
              <a:t> </a:t>
            </a:r>
            <a:r>
              <a:rPr kumimoji="0" lang="en-US" altLang="en-US" sz="1650" b="0" i="0" u="none" strike="noStrike" cap="none" normalizeH="0" baseline="0" dirty="0">
                <a:ln>
                  <a:noFill/>
                </a:ln>
                <a:solidFill>
                  <a:schemeClr val="tx1"/>
                </a:solidFill>
                <a:effectLst/>
                <a:latin typeface="Garamond" panose="02020404030301010803" pitchFamily="18" charset="0"/>
              </a:rPr>
              <a:t>Caregivers and family members often lack visibility into the real-time safety and location status of the user, leading to increased anxiety and difficulty in providing timely assistance.</a:t>
            </a:r>
          </a:p>
          <a:p>
            <a:pPr marL="400050" marR="0" lvl="0" indent="-4000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50" b="1" i="0" u="none" strike="noStrike" cap="none" normalizeH="0" baseline="0" dirty="0">
                <a:ln>
                  <a:noFill/>
                </a:ln>
                <a:solidFill>
                  <a:srgbClr val="7030A0"/>
                </a:solidFill>
                <a:effectLst/>
                <a:latin typeface="Garamond" panose="02020404030301010803" pitchFamily="18" charset="0"/>
              </a:rPr>
              <a:t>Need for an Integrated, Non-Intrusive Assistive Technology:</a:t>
            </a:r>
            <a:r>
              <a:rPr lang="en-US" altLang="en-US" sz="1650" dirty="0">
                <a:latin typeface="Garamond" panose="02020404030301010803" pitchFamily="18" charset="0"/>
              </a:rPr>
              <a:t> </a:t>
            </a:r>
            <a:r>
              <a:rPr kumimoji="0" lang="en-US" altLang="en-US" sz="1650" b="0" i="0" u="none" strike="noStrike" cap="none" normalizeH="0" baseline="0" dirty="0">
                <a:ln>
                  <a:noFill/>
                </a:ln>
                <a:solidFill>
                  <a:schemeClr val="tx1"/>
                </a:solidFill>
                <a:effectLst/>
                <a:latin typeface="Garamond" panose="02020404030301010803" pitchFamily="18" charset="0"/>
              </a:rPr>
              <a:t>Existing solutions often address only one aspect (like obstacle detection or navigation), and may require bulky or separate devices. There is a need for a unified solution that is practical, reliable, and easy to use in daily life.</a:t>
            </a:r>
          </a:p>
          <a:p>
            <a:endParaRPr lang="en-IN" sz="1200" dirty="0"/>
          </a:p>
        </p:txBody>
      </p:sp>
      <p:sp>
        <p:nvSpPr>
          <p:cNvPr id="5" name="Rectangle 1">
            <a:extLst>
              <a:ext uri="{FF2B5EF4-FFF2-40B4-BE49-F238E27FC236}">
                <a16:creationId xmlns:a16="http://schemas.microsoft.com/office/drawing/2014/main" id="{D4E2732A-AFDB-3566-DCAA-B0EEA1FACE90}"/>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76F91019-8295-1AE8-3AFB-F33C4D6088CC}"/>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46842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D399A-EB21-5EDE-652D-FA59EF0F311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838774A-AB34-A513-156C-56656AEDC69F}"/>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Research Objectives</a:t>
            </a:r>
          </a:p>
        </p:txBody>
      </p:sp>
      <p:sp>
        <p:nvSpPr>
          <p:cNvPr id="4" name="TextBox 3">
            <a:extLst>
              <a:ext uri="{FF2B5EF4-FFF2-40B4-BE49-F238E27FC236}">
                <a16:creationId xmlns:a16="http://schemas.microsoft.com/office/drawing/2014/main" id="{D92682D8-4699-E28F-FBAF-BC6D74AB4E44}"/>
              </a:ext>
            </a:extLst>
          </p:cNvPr>
          <p:cNvSpPr txBox="1"/>
          <p:nvPr/>
        </p:nvSpPr>
        <p:spPr>
          <a:xfrm>
            <a:off x="708057" y="1176950"/>
            <a:ext cx="11070501" cy="615553"/>
          </a:xfrm>
          <a:prstGeom prst="rect">
            <a:avLst/>
          </a:prstGeom>
          <a:noFill/>
        </p:spPr>
        <p:txBody>
          <a:bodyPr wrap="square" rtlCol="0">
            <a:spAutoFit/>
          </a:bodyPr>
          <a:lstStyle/>
          <a:p>
            <a:endParaRPr lang="en-IN" sz="1600" dirty="0">
              <a:effectLst/>
              <a:latin typeface="Garamond" panose="02020404030301010803" pitchFamily="18" charset="0"/>
              <a:ea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ECEE6142-7F7A-06A3-8DCF-CD80AC68F148}"/>
              </a:ext>
            </a:extLst>
          </p:cNvPr>
          <p:cNvSpPr txBox="1"/>
          <p:nvPr/>
        </p:nvSpPr>
        <p:spPr>
          <a:xfrm>
            <a:off x="708057" y="1256762"/>
            <a:ext cx="8883618" cy="4424288"/>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ts val="1500"/>
              </a:spcAft>
              <a:buClrTx/>
              <a:buSzTx/>
              <a:buFont typeface="Wingdings" panose="05000000000000000000" pitchFamily="2" charset="2"/>
              <a:buChar char="v"/>
              <a:tabLst/>
            </a:pPr>
            <a:r>
              <a:rPr kumimoji="0" lang="en-US" altLang="en-US" sz="1825" b="1" i="0" u="none" strike="noStrike" cap="none" normalizeH="0" baseline="0" dirty="0">
                <a:ln>
                  <a:noFill/>
                </a:ln>
                <a:solidFill>
                  <a:srgbClr val="7030A0"/>
                </a:solidFill>
                <a:effectLst/>
                <a:latin typeface="Garamond" panose="02020404030301010803" pitchFamily="18" charset="0"/>
              </a:rPr>
              <a:t>Assistive Navigation System:</a:t>
            </a:r>
            <a:r>
              <a:rPr lang="en-US" altLang="en-US" sz="1825" dirty="0">
                <a:latin typeface="Garamond" panose="02020404030301010803" pitchFamily="18" charset="0"/>
              </a:rPr>
              <a:t> </a:t>
            </a:r>
            <a:r>
              <a:rPr kumimoji="0" lang="en-US" altLang="en-US" sz="1825" b="0" i="0" u="none" strike="noStrike" cap="none" normalizeH="0" baseline="0" dirty="0">
                <a:ln>
                  <a:noFill/>
                </a:ln>
                <a:solidFill>
                  <a:schemeClr val="tx1"/>
                </a:solidFill>
                <a:effectLst/>
                <a:latin typeface="Garamond" panose="02020404030301010803" pitchFamily="18" charset="0"/>
              </a:rPr>
              <a:t>Design and develop a Smart Cane to aid visually impaired users in navigating independently and safely.</a:t>
            </a:r>
          </a:p>
          <a:p>
            <a:pPr marL="285750" marR="0" lvl="0" indent="-285750" algn="l" defTabSz="914400" rtl="0" eaLnBrk="0" fontAlgn="base" latinLnBrk="0" hangingPunct="0">
              <a:lnSpc>
                <a:spcPct val="100000"/>
              </a:lnSpc>
              <a:spcBef>
                <a:spcPct val="0"/>
              </a:spcBef>
              <a:spcAft>
                <a:spcPts val="1500"/>
              </a:spcAft>
              <a:buClrTx/>
              <a:buSzTx/>
              <a:buFont typeface="Wingdings" panose="05000000000000000000" pitchFamily="2" charset="2"/>
              <a:buChar char="v"/>
              <a:tabLst/>
            </a:pPr>
            <a:r>
              <a:rPr kumimoji="0" lang="en-US" altLang="en-US" sz="1825" b="1" i="0" u="none" strike="noStrike" cap="none" normalizeH="0" baseline="0" dirty="0">
                <a:ln>
                  <a:noFill/>
                </a:ln>
                <a:solidFill>
                  <a:srgbClr val="7030A0"/>
                </a:solidFill>
                <a:effectLst/>
                <a:latin typeface="Garamond" panose="02020404030301010803" pitchFamily="18" charset="0"/>
              </a:rPr>
              <a:t>Fall Detection and Alert Mechanism:</a:t>
            </a:r>
            <a:r>
              <a:rPr lang="en-US" altLang="en-US" sz="1825" dirty="0">
                <a:latin typeface="Garamond" panose="02020404030301010803" pitchFamily="18" charset="0"/>
              </a:rPr>
              <a:t> </a:t>
            </a:r>
            <a:r>
              <a:rPr kumimoji="0" lang="en-US" altLang="en-US" sz="1825" b="0" i="0" u="none" strike="noStrike" cap="none" normalizeH="0" baseline="0" dirty="0">
                <a:ln>
                  <a:noFill/>
                </a:ln>
                <a:solidFill>
                  <a:schemeClr val="tx1"/>
                </a:solidFill>
                <a:effectLst/>
                <a:latin typeface="Garamond" panose="02020404030301010803" pitchFamily="18" charset="0"/>
              </a:rPr>
              <a:t>Detect user falls using accelerometer and gyroscope and notify caregivers in real-time via Firebase and mobile notifications.</a:t>
            </a:r>
          </a:p>
          <a:p>
            <a:pPr marL="285750" marR="0" lvl="0" indent="-285750" algn="l" defTabSz="914400" rtl="0" eaLnBrk="0" fontAlgn="base" latinLnBrk="0" hangingPunct="0">
              <a:lnSpc>
                <a:spcPct val="100000"/>
              </a:lnSpc>
              <a:spcBef>
                <a:spcPct val="0"/>
              </a:spcBef>
              <a:spcAft>
                <a:spcPts val="1500"/>
              </a:spcAft>
              <a:buClrTx/>
              <a:buSzTx/>
              <a:buFont typeface="Wingdings" panose="05000000000000000000" pitchFamily="2" charset="2"/>
              <a:buChar char="v"/>
              <a:tabLst/>
            </a:pPr>
            <a:r>
              <a:rPr kumimoji="0" lang="en-US" altLang="en-US" sz="1825" b="1" i="0" u="none" strike="noStrike" cap="none" normalizeH="0" baseline="0" dirty="0">
                <a:ln>
                  <a:noFill/>
                </a:ln>
                <a:solidFill>
                  <a:srgbClr val="7030A0"/>
                </a:solidFill>
                <a:effectLst/>
                <a:latin typeface="Garamond" panose="02020404030301010803" pitchFamily="18" charset="0"/>
              </a:rPr>
              <a:t>Real-Time Location Tracking:</a:t>
            </a:r>
            <a:r>
              <a:rPr lang="en-US" altLang="en-US" sz="1825" dirty="0">
                <a:latin typeface="Garamond" panose="02020404030301010803" pitchFamily="18" charset="0"/>
              </a:rPr>
              <a:t> </a:t>
            </a:r>
            <a:r>
              <a:rPr kumimoji="0" lang="en-US" altLang="en-US" sz="1825" b="0" i="0" u="none" strike="noStrike" cap="none" normalizeH="0" baseline="0" dirty="0">
                <a:ln>
                  <a:noFill/>
                </a:ln>
                <a:solidFill>
                  <a:schemeClr val="tx1"/>
                </a:solidFill>
                <a:effectLst/>
                <a:latin typeface="Garamond" panose="02020404030301010803" pitchFamily="18" charset="0"/>
              </a:rPr>
              <a:t>Continuously track and upload GPS coordinates to Firebase for live monitoring by caregivers.</a:t>
            </a:r>
          </a:p>
          <a:p>
            <a:pPr marL="285750" marR="0" lvl="0" indent="-285750" algn="l" defTabSz="914400" rtl="0" eaLnBrk="0" fontAlgn="base" latinLnBrk="0" hangingPunct="0">
              <a:lnSpc>
                <a:spcPct val="100000"/>
              </a:lnSpc>
              <a:spcBef>
                <a:spcPct val="0"/>
              </a:spcBef>
              <a:spcAft>
                <a:spcPts val="1500"/>
              </a:spcAft>
              <a:buClrTx/>
              <a:buSzTx/>
              <a:buFont typeface="Wingdings" panose="05000000000000000000" pitchFamily="2" charset="2"/>
              <a:buChar char="v"/>
              <a:tabLst/>
            </a:pPr>
            <a:r>
              <a:rPr kumimoji="0" lang="en-US" altLang="en-US" sz="1825" b="1" i="0" u="none" strike="noStrike" cap="none" normalizeH="0" baseline="0" dirty="0">
                <a:ln>
                  <a:noFill/>
                </a:ln>
                <a:solidFill>
                  <a:srgbClr val="7030A0"/>
                </a:solidFill>
                <a:effectLst/>
                <a:latin typeface="Garamond" panose="02020404030301010803" pitchFamily="18" charset="0"/>
              </a:rPr>
              <a:t>Turn-by-Turn Audio Navigation:</a:t>
            </a:r>
            <a:r>
              <a:rPr lang="en-US" altLang="en-US" sz="1825" dirty="0">
                <a:latin typeface="Garamond" panose="02020404030301010803" pitchFamily="18" charset="0"/>
              </a:rPr>
              <a:t> </a:t>
            </a:r>
            <a:r>
              <a:rPr kumimoji="0" lang="en-US" altLang="en-US" sz="1825" b="0" i="0" u="none" strike="noStrike" cap="none" normalizeH="0" baseline="0" dirty="0">
                <a:ln>
                  <a:noFill/>
                </a:ln>
                <a:solidFill>
                  <a:schemeClr val="tx1"/>
                </a:solidFill>
                <a:effectLst/>
                <a:latin typeface="Garamond" panose="02020404030301010803" pitchFamily="18" charset="0"/>
              </a:rPr>
              <a:t>Guide users with voice directions using GPS-based navigation steps played through a speaker.</a:t>
            </a:r>
          </a:p>
          <a:p>
            <a:pPr marL="285750" marR="0" lvl="0" indent="-285750" algn="l" defTabSz="914400" rtl="0" eaLnBrk="0" fontAlgn="base" latinLnBrk="0" hangingPunct="0">
              <a:lnSpc>
                <a:spcPct val="100000"/>
              </a:lnSpc>
              <a:spcBef>
                <a:spcPct val="0"/>
              </a:spcBef>
              <a:spcAft>
                <a:spcPts val="1500"/>
              </a:spcAft>
              <a:buClrTx/>
              <a:buSzTx/>
              <a:buFont typeface="Wingdings" panose="05000000000000000000" pitchFamily="2" charset="2"/>
              <a:buChar char="v"/>
              <a:tabLst/>
            </a:pPr>
            <a:r>
              <a:rPr kumimoji="0" lang="en-US" altLang="en-US" sz="1825" b="1" i="0" u="none" strike="noStrike" cap="none" normalizeH="0" baseline="0" dirty="0">
                <a:ln>
                  <a:noFill/>
                </a:ln>
                <a:solidFill>
                  <a:srgbClr val="7030A0"/>
                </a:solidFill>
                <a:effectLst/>
                <a:latin typeface="Garamond" panose="02020404030301010803" pitchFamily="18" charset="0"/>
              </a:rPr>
              <a:t>Seamless App-Hardware Communication:</a:t>
            </a:r>
            <a:r>
              <a:rPr lang="en-US" altLang="en-US" sz="1825" dirty="0">
                <a:latin typeface="Garamond" panose="02020404030301010803" pitchFamily="18" charset="0"/>
              </a:rPr>
              <a:t> </a:t>
            </a:r>
            <a:r>
              <a:rPr kumimoji="0" lang="en-US" altLang="en-US" sz="1825" b="0" i="0" u="none" strike="noStrike" cap="none" normalizeH="0" baseline="0" dirty="0">
                <a:ln>
                  <a:noFill/>
                </a:ln>
                <a:solidFill>
                  <a:schemeClr val="tx1"/>
                </a:solidFill>
                <a:effectLst/>
                <a:latin typeface="Garamond" panose="02020404030301010803" pitchFamily="18" charset="0"/>
              </a:rPr>
              <a:t>Maintain synchronized, real-time data exchange between the ESP32-based cane and the Android application using Firebase services.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25" b="1" i="0" u="none" strike="noStrike" cap="none" normalizeH="0" baseline="0" dirty="0">
                <a:ln>
                  <a:noFill/>
                </a:ln>
                <a:solidFill>
                  <a:srgbClr val="7030A0"/>
                </a:solidFill>
                <a:effectLst/>
                <a:latin typeface="Garamond" panose="02020404030301010803" pitchFamily="18" charset="0"/>
              </a:rPr>
              <a:t>Performance Evaluation:</a:t>
            </a:r>
            <a:r>
              <a:rPr lang="en-US" altLang="en-US" sz="1825" dirty="0">
                <a:latin typeface="Garamond" panose="02020404030301010803" pitchFamily="18" charset="0"/>
              </a:rPr>
              <a:t> </a:t>
            </a:r>
            <a:r>
              <a:rPr kumimoji="0" lang="en-US" altLang="en-US" sz="1825" b="0" i="0" u="none" strike="noStrike" cap="none" normalizeH="0" baseline="0" dirty="0">
                <a:ln>
                  <a:noFill/>
                </a:ln>
                <a:solidFill>
                  <a:schemeClr val="tx1"/>
                </a:solidFill>
                <a:effectLst/>
                <a:latin typeface="Garamond" panose="02020404030301010803" pitchFamily="18" charset="0"/>
              </a:rPr>
              <a:t>Assess the system’s effectiveness in terms of location accuracy, fall detection reliability, and overall user-friendliness.</a:t>
            </a:r>
          </a:p>
        </p:txBody>
      </p:sp>
    </p:spTree>
    <p:extLst>
      <p:ext uri="{BB962C8B-B14F-4D97-AF65-F5344CB8AC3E}">
        <p14:creationId xmlns:p14="http://schemas.microsoft.com/office/powerpoint/2010/main" val="2780789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0DB1F-F7A2-79C8-31C3-F4F09B2116E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F3DD04D-F160-DA42-E4C9-49E7CD9DB429}"/>
              </a:ext>
            </a:extLst>
          </p:cNvPr>
          <p:cNvSpPr txBox="1"/>
          <p:nvPr/>
        </p:nvSpPr>
        <p:spPr>
          <a:xfrm>
            <a:off x="560749" y="449504"/>
            <a:ext cx="10418652"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3000" b="1" u="none" strike="noStrike" kern="1200" cap="none" spc="0" normalizeH="0" baseline="0" noProof="0" dirty="0">
                <a:ln>
                  <a:noFill/>
                </a:ln>
                <a:solidFill>
                  <a:srgbClr val="D34817"/>
                </a:solidFill>
                <a:effectLst/>
                <a:uLnTx/>
                <a:uFillTx/>
                <a:latin typeface="Garamond" panose="02020404030301010803" pitchFamily="18" charset="0"/>
                <a:ea typeface="+mn-ea"/>
                <a:cs typeface="+mn-cs"/>
              </a:rPr>
              <a:t>Proposed System - Introduction</a:t>
            </a:r>
            <a:endParaRPr kumimoji="0" lang="en-IN" sz="3000" b="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03010219-56CD-E615-54B4-6E397560C7CD}"/>
              </a:ext>
            </a:extLst>
          </p:cNvPr>
          <p:cNvSpPr txBox="1"/>
          <p:nvPr/>
        </p:nvSpPr>
        <p:spPr>
          <a:xfrm>
            <a:off x="560747" y="1467373"/>
            <a:ext cx="9202377" cy="4519186"/>
          </a:xfrm>
          <a:prstGeom prst="rect">
            <a:avLst/>
          </a:prstGeom>
          <a:noFill/>
        </p:spPr>
        <p:txBody>
          <a:bodyPr wrap="square" rtlCol="0">
            <a:spAutoFit/>
          </a:bodyPr>
          <a:lstStyle/>
          <a:p>
            <a:pPr algn="just">
              <a:buNone/>
            </a:pPr>
            <a:r>
              <a:rPr lang="en-US" sz="1950" dirty="0">
                <a:latin typeface="Garamond" panose="02020404030301010803" pitchFamily="18" charset="0"/>
              </a:rPr>
              <a:t>The proposed system is a Smart Cane designed to assist visually impaired individuals by integrating multiple features into a single, compact solution. It combines real-time GPS tracking, fall detection, obstacle detection, and voice-based navigation feedback using a speaker. The system uses an ESP32 microcontroller as the central controller, interfaced with sensors and modules including an MPU6050 accelerometer-gyroscope, NEO-6M GPS module, ultrasonic sensors, and an I2S DAC.</a:t>
            </a:r>
          </a:p>
          <a:p>
            <a:pPr algn="just">
              <a:buNone/>
            </a:pPr>
            <a:endParaRPr lang="en-US" sz="1950" dirty="0">
              <a:latin typeface="Garamond" panose="02020404030301010803" pitchFamily="18" charset="0"/>
            </a:endParaRPr>
          </a:p>
          <a:p>
            <a:pPr algn="just"/>
            <a:r>
              <a:rPr lang="en-US" sz="1950" dirty="0">
                <a:latin typeface="Garamond" panose="02020404030301010803" pitchFamily="18" charset="0"/>
              </a:rPr>
              <a:t>The Smart Cane communicates with a custom-built Android application through Firebase, ensuring real-time data synchronization. The app enables caregivers to monitor the user’s location, receive fall alerts, and send destination-based navigation instructions to the cane. This integration aims to enhance the autonomy and safety of visually impaired users in outdoor environments, providing both navigational aid and emergency communication.</a:t>
            </a:r>
          </a:p>
          <a:p>
            <a:pPr marR="0" lvl="0" algn="l" defTabSz="914400" rtl="0" eaLnBrk="0" fontAlgn="base" latinLnBrk="0" hangingPunct="0">
              <a:lnSpc>
                <a:spcPct val="100000"/>
              </a:lnSpc>
              <a:spcBef>
                <a:spcPct val="0"/>
              </a:spcBef>
              <a:spcAft>
                <a:spcPts val="700"/>
              </a:spcAft>
              <a:buClrTx/>
              <a:buSzTx/>
              <a:tabLst/>
            </a:pPr>
            <a:endParaRPr kumimoji="0" lang="en-US" altLang="en-US" sz="1400" b="1" i="0" u="none" strike="noStrike" cap="none" normalizeH="0" baseline="0" dirty="0">
              <a:ln>
                <a:noFill/>
              </a:ln>
              <a:solidFill>
                <a:schemeClr val="tx1"/>
              </a:solidFill>
              <a:effectLst/>
              <a:latin typeface="Garamond" panose="02020404030301010803" pitchFamily="18" charset="0"/>
            </a:endParaRPr>
          </a:p>
          <a:p>
            <a:pPr marL="285750" indent="-285750">
              <a:spcAft>
                <a:spcPts val="700"/>
              </a:spcAft>
              <a:buFont typeface="Wingdings" panose="05000000000000000000" pitchFamily="2" charset="2"/>
              <a:buChar char="v"/>
            </a:pPr>
            <a:endParaRPr lang="en-IN" sz="1400" b="1" dirty="0">
              <a:effectLst/>
              <a:latin typeface="Garamond" panose="02020404030301010803" pitchFamily="18" charset="0"/>
              <a:ea typeface="Times New Roman" panose="02020603050405020304" pitchFamily="18" charset="0"/>
            </a:endParaRPr>
          </a:p>
          <a:p>
            <a:pPr marL="285750" indent="-285750">
              <a:spcAft>
                <a:spcPts val="700"/>
              </a:spcAft>
              <a:buFont typeface="Wingdings" panose="05000000000000000000" pitchFamily="2" charset="2"/>
              <a:buChar char="v"/>
            </a:pPr>
            <a:endParaRPr lang="en-IN" sz="1400" b="1" dirty="0">
              <a:latin typeface="Garamond" panose="02020404030301010803" pitchFamily="18" charset="0"/>
            </a:endParaRPr>
          </a:p>
        </p:txBody>
      </p:sp>
    </p:spTree>
    <p:extLst>
      <p:ext uri="{BB962C8B-B14F-4D97-AF65-F5344CB8AC3E}">
        <p14:creationId xmlns:p14="http://schemas.microsoft.com/office/powerpoint/2010/main" val="3714515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B899C-A4EF-9245-E3BD-5AD0316C64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DB51441-7F6F-D1BF-CA87-91B1E67E6C62}"/>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Proposed System Diagram</a:t>
            </a:r>
            <a:endParaRPr lang="en-IN" sz="3000" b="1" dirty="0"/>
          </a:p>
        </p:txBody>
      </p:sp>
      <p:pic>
        <p:nvPicPr>
          <p:cNvPr id="5" name="Picture 4" descr="A diagram of a computer system&#10;&#10;AI-generated content may be incorrect.">
            <a:extLst>
              <a:ext uri="{FF2B5EF4-FFF2-40B4-BE49-F238E27FC236}">
                <a16:creationId xmlns:a16="http://schemas.microsoft.com/office/drawing/2014/main" id="{4684A294-DCB7-7792-4E17-BDA9C7FA8B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7278" y="1172097"/>
            <a:ext cx="7377443" cy="4959531"/>
          </a:xfrm>
          <a:prstGeom prst="rect">
            <a:avLst/>
          </a:prstGeom>
          <a:ln>
            <a:solidFill>
              <a:schemeClr val="tx1"/>
            </a:solidFill>
          </a:ln>
        </p:spPr>
      </p:pic>
    </p:spTree>
    <p:extLst>
      <p:ext uri="{BB962C8B-B14F-4D97-AF65-F5344CB8AC3E}">
        <p14:creationId xmlns:p14="http://schemas.microsoft.com/office/powerpoint/2010/main" val="3931058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173AA-F53D-B8DE-0E6F-4C1020EEBA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C8D9C97-EAC1-CBC3-ECC2-3C4D1E5A9BCB}"/>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Fall Detection System</a:t>
            </a:r>
            <a:endParaRPr lang="en-IN" sz="3000" b="1" dirty="0"/>
          </a:p>
        </p:txBody>
      </p:sp>
      <p:sp>
        <p:nvSpPr>
          <p:cNvPr id="4" name="TextBox 3">
            <a:extLst>
              <a:ext uri="{FF2B5EF4-FFF2-40B4-BE49-F238E27FC236}">
                <a16:creationId xmlns:a16="http://schemas.microsoft.com/office/drawing/2014/main" id="{29096C1E-19C7-53BD-5DAD-DE785E6A06C3}"/>
              </a:ext>
            </a:extLst>
          </p:cNvPr>
          <p:cNvSpPr txBox="1"/>
          <p:nvPr/>
        </p:nvSpPr>
        <p:spPr>
          <a:xfrm>
            <a:off x="708057" y="1205170"/>
            <a:ext cx="7382581" cy="5652830"/>
          </a:xfrm>
          <a:prstGeom prst="rect">
            <a:avLst/>
          </a:prstGeom>
          <a:noFill/>
        </p:spPr>
        <p:txBody>
          <a:bodyPr wrap="square" rtlCol="0">
            <a:spAutoFit/>
          </a:bodyPr>
          <a:lstStyle/>
          <a:p>
            <a:pPr marR="0" lvl="0" defTabSz="914400" rtl="0" eaLnBrk="0" fontAlgn="base" latinLnBrk="0" hangingPunct="0">
              <a:lnSpc>
                <a:spcPct val="100000"/>
              </a:lnSpc>
              <a:spcBef>
                <a:spcPct val="0"/>
              </a:spcBef>
              <a:spcAft>
                <a:spcPts val="600"/>
              </a:spcAft>
              <a:buClrTx/>
              <a:buSzTx/>
              <a:tabLst/>
            </a:pPr>
            <a:r>
              <a:rPr lang="en-US" altLang="en-US" sz="1500" b="1" dirty="0">
                <a:solidFill>
                  <a:srgbClr val="7030A0"/>
                </a:solidFill>
                <a:latin typeface="Garamond" panose="02020404030301010803" pitchFamily="18" charset="0"/>
              </a:rPr>
              <a:t>Sensor Integration and Data Acquisition:</a:t>
            </a:r>
            <a:br>
              <a:rPr lang="en-US" altLang="en-US" sz="1500" dirty="0">
                <a:latin typeface="Garamond" panose="02020404030301010803" pitchFamily="18" charset="0"/>
              </a:rPr>
            </a:br>
            <a:r>
              <a:rPr lang="en-US" altLang="en-US" sz="1500" dirty="0">
                <a:latin typeface="Garamond" panose="02020404030301010803" pitchFamily="18" charset="0"/>
              </a:rPr>
              <a:t>The MPU6050 sensor continuously collects acceleration and gyroscope data along the X, Y, and Z axes using the I2C protocol. The ESP32 processes this data in real time to monitor the cane’s motion and orientation.</a:t>
            </a:r>
          </a:p>
          <a:p>
            <a:pPr marR="0" lvl="0" defTabSz="914400" rtl="0" eaLnBrk="0" fontAlgn="base" latinLnBrk="0" hangingPunct="0">
              <a:lnSpc>
                <a:spcPct val="100000"/>
              </a:lnSpc>
              <a:spcBef>
                <a:spcPct val="0"/>
              </a:spcBef>
              <a:spcAft>
                <a:spcPts val="300"/>
              </a:spcAft>
              <a:buClrTx/>
              <a:buSzTx/>
              <a:tabLst/>
            </a:pPr>
            <a:r>
              <a:rPr lang="en-US" altLang="en-US" sz="1500" b="1" dirty="0">
                <a:solidFill>
                  <a:srgbClr val="7030A0"/>
                </a:solidFill>
                <a:latin typeface="Garamond" panose="02020404030301010803" pitchFamily="18" charset="0"/>
              </a:rPr>
              <a:t>Algorithm Flow:</a:t>
            </a:r>
            <a:br>
              <a:rPr lang="en-US" altLang="en-US" sz="1500" dirty="0">
                <a:latin typeface="Garamond" panose="02020404030301010803" pitchFamily="18" charset="0"/>
              </a:rPr>
            </a:br>
            <a:r>
              <a:rPr lang="en-US" altLang="en-US" sz="1500" dirty="0">
                <a:latin typeface="Garamond" panose="02020404030301010803" pitchFamily="18" charset="0"/>
              </a:rPr>
              <a:t>The system uses a state-based algorithm (</a:t>
            </a:r>
            <a:r>
              <a:rPr lang="en-US" altLang="en-US" sz="1500" dirty="0" err="1">
                <a:latin typeface="Garamond" panose="02020404030301010803" pitchFamily="18" charset="0"/>
              </a:rPr>
              <a:t>FallState</a:t>
            </a:r>
            <a:r>
              <a:rPr lang="en-US" altLang="en-US" sz="1500" dirty="0">
                <a:latin typeface="Garamond" panose="02020404030301010803" pitchFamily="18" charset="0"/>
              </a:rPr>
              <a:t> </a:t>
            </a:r>
            <a:r>
              <a:rPr lang="en-US" altLang="en-US" sz="1500" dirty="0" err="1">
                <a:latin typeface="Garamond" panose="02020404030301010803" pitchFamily="18" charset="0"/>
              </a:rPr>
              <a:t>enum</a:t>
            </a:r>
            <a:r>
              <a:rPr lang="en-US" altLang="en-US" sz="1500" dirty="0">
                <a:latin typeface="Garamond" panose="02020404030301010803" pitchFamily="18" charset="0"/>
              </a:rPr>
              <a:t>).</a:t>
            </a:r>
          </a:p>
          <a:p>
            <a:pPr marL="285750" marR="0" lvl="0" indent="-285750" algn="just" defTabSz="914400" rtl="0" eaLnBrk="0" fontAlgn="base" latinLnBrk="0" hangingPunct="0">
              <a:lnSpc>
                <a:spcPct val="100000"/>
              </a:lnSpc>
              <a:spcBef>
                <a:spcPct val="0"/>
              </a:spcBef>
              <a:spcAft>
                <a:spcPts val="300"/>
              </a:spcAft>
              <a:buClrTx/>
              <a:buSzTx/>
              <a:buFont typeface="Arial" panose="020B0604020202020204" pitchFamily="34" charset="0"/>
              <a:buChar char="•"/>
              <a:tabLst/>
            </a:pPr>
            <a:r>
              <a:rPr lang="en-US" altLang="en-US" sz="1500" dirty="0">
                <a:latin typeface="Garamond" panose="02020404030301010803" pitchFamily="18" charset="0"/>
              </a:rPr>
              <a:t>If the cane’s X or Z acceleration exceeds a threshold and Y-axis drops, it enters FALL_DETECTED.</a:t>
            </a:r>
          </a:p>
          <a:p>
            <a:pPr marL="285750" marR="0" lvl="0" indent="-285750" algn="just" defTabSz="914400" rtl="0" eaLnBrk="0" fontAlgn="base" latinLnBrk="0" hangingPunct="0">
              <a:lnSpc>
                <a:spcPct val="100000"/>
              </a:lnSpc>
              <a:spcBef>
                <a:spcPct val="0"/>
              </a:spcBef>
              <a:spcAft>
                <a:spcPts val="300"/>
              </a:spcAft>
              <a:buClrTx/>
              <a:buSzTx/>
              <a:buFont typeface="Arial" panose="020B0604020202020204" pitchFamily="34" charset="0"/>
              <a:buChar char="•"/>
              <a:tabLst/>
            </a:pPr>
            <a:r>
              <a:rPr lang="en-US" altLang="en-US" sz="1500" dirty="0">
                <a:latin typeface="Garamond" panose="02020404030301010803" pitchFamily="18" charset="0"/>
              </a:rPr>
              <a:t>It checks for near-zero gyroscope movement (|</a:t>
            </a:r>
            <a:r>
              <a:rPr lang="en-US" altLang="en-US" sz="1500" dirty="0" err="1">
                <a:latin typeface="Garamond" panose="02020404030301010803" pitchFamily="18" charset="0"/>
              </a:rPr>
              <a:t>gyroX</a:t>
            </a:r>
            <a:r>
              <a:rPr lang="en-US" altLang="en-US" sz="1500" dirty="0">
                <a:latin typeface="Garamond" panose="02020404030301010803" pitchFamily="18" charset="0"/>
              </a:rPr>
              <a:t>|, |</a:t>
            </a:r>
            <a:r>
              <a:rPr lang="en-US" altLang="en-US" sz="1500" dirty="0" err="1">
                <a:latin typeface="Garamond" panose="02020404030301010803" pitchFamily="18" charset="0"/>
              </a:rPr>
              <a:t>gyroY</a:t>
            </a:r>
            <a:r>
              <a:rPr lang="en-US" altLang="en-US" sz="1500" dirty="0">
                <a:latin typeface="Garamond" panose="02020404030301010803" pitchFamily="18" charset="0"/>
              </a:rPr>
              <a:t>|, |</a:t>
            </a:r>
            <a:r>
              <a:rPr lang="en-US" altLang="en-US" sz="1500" dirty="0" err="1">
                <a:latin typeface="Garamond" panose="02020404030301010803" pitchFamily="18" charset="0"/>
              </a:rPr>
              <a:t>gyroZ</a:t>
            </a:r>
            <a:r>
              <a:rPr lang="en-US" altLang="en-US" sz="1500" dirty="0">
                <a:latin typeface="Garamond" panose="02020404030301010803" pitchFamily="18" charset="0"/>
              </a:rPr>
              <a:t>| &lt; 0.1) to confirm the cane is stationary.</a:t>
            </a:r>
          </a:p>
          <a:p>
            <a:pPr marL="285750" marR="0" lvl="0" indent="-285750" algn="just" defTabSz="914400" rtl="0" eaLnBrk="0" fontAlgn="base" latinLnBrk="0" hangingPunct="0">
              <a:lnSpc>
                <a:spcPct val="100000"/>
              </a:lnSpc>
              <a:spcBef>
                <a:spcPct val="0"/>
              </a:spcBef>
              <a:spcAft>
                <a:spcPts val="300"/>
              </a:spcAft>
              <a:buClrTx/>
              <a:buSzTx/>
              <a:buFont typeface="Arial" panose="020B0604020202020204" pitchFamily="34" charset="0"/>
              <a:buChar char="•"/>
              <a:tabLst/>
            </a:pPr>
            <a:r>
              <a:rPr lang="en-US" altLang="en-US" sz="1500" dirty="0">
                <a:latin typeface="Garamond" panose="02020404030301010803" pitchFamily="18" charset="0"/>
              </a:rPr>
              <a:t>If confirmed, it transitions to FALL_CONFIRMED and updates the </a:t>
            </a:r>
            <a:r>
              <a:rPr lang="en-US" altLang="en-US" sz="1500" dirty="0" err="1">
                <a:latin typeface="Garamond" panose="02020404030301010803" pitchFamily="18" charset="0"/>
              </a:rPr>
              <a:t>fallDetected</a:t>
            </a:r>
            <a:r>
              <a:rPr lang="en-US" altLang="en-US" sz="1500" dirty="0">
                <a:latin typeface="Garamond" panose="02020404030301010803" pitchFamily="18" charset="0"/>
              </a:rPr>
              <a:t> flag in Firebase Realtime Database.</a:t>
            </a:r>
          </a:p>
          <a:p>
            <a:pPr marL="285750" marR="0" lvl="0" indent="-285750" algn="just" defTabSz="914400" rtl="0" eaLnBrk="0" fontAlgn="base" latinLnBrk="0" hangingPunct="0">
              <a:lnSpc>
                <a:spcPct val="100000"/>
              </a:lnSpc>
              <a:spcBef>
                <a:spcPct val="0"/>
              </a:spcBef>
              <a:spcAft>
                <a:spcPts val="700"/>
              </a:spcAft>
              <a:buClrTx/>
              <a:buSzTx/>
              <a:buFont typeface="Arial" panose="020B0604020202020204" pitchFamily="34" charset="0"/>
              <a:buChar char="•"/>
              <a:tabLst/>
            </a:pPr>
            <a:r>
              <a:rPr lang="en-US" altLang="en-US" sz="1500" dirty="0">
                <a:latin typeface="Garamond" panose="02020404030301010803" pitchFamily="18" charset="0"/>
              </a:rPr>
              <a:t>If the cane returns to an upright position (</a:t>
            </a:r>
            <a:r>
              <a:rPr lang="en-US" altLang="en-US" sz="1500" dirty="0" err="1">
                <a:latin typeface="Garamond" panose="02020404030301010803" pitchFamily="18" charset="0"/>
              </a:rPr>
              <a:t>accelY</a:t>
            </a:r>
            <a:r>
              <a:rPr lang="en-US" altLang="en-US" sz="1500" dirty="0">
                <a:latin typeface="Garamond" panose="02020404030301010803" pitchFamily="18" charset="0"/>
              </a:rPr>
              <a:t> &gt; 7.5), it resets to NO_FALL.</a:t>
            </a:r>
          </a:p>
          <a:p>
            <a:pPr marR="0" lvl="0" defTabSz="914400" rtl="0" eaLnBrk="0" fontAlgn="base" latinLnBrk="0" hangingPunct="0">
              <a:lnSpc>
                <a:spcPct val="100000"/>
              </a:lnSpc>
              <a:spcBef>
                <a:spcPct val="0"/>
              </a:spcBef>
              <a:spcAft>
                <a:spcPts val="300"/>
              </a:spcAft>
              <a:buClrTx/>
              <a:buSzTx/>
              <a:tabLst/>
            </a:pPr>
            <a:r>
              <a:rPr lang="en-US" altLang="en-US" sz="1500" b="1" dirty="0">
                <a:solidFill>
                  <a:srgbClr val="7030A0"/>
                </a:solidFill>
                <a:latin typeface="Garamond" panose="02020404030301010803" pitchFamily="18" charset="0"/>
              </a:rPr>
              <a:t>App Integration:</a:t>
            </a:r>
            <a:br>
              <a:rPr lang="en-US" altLang="en-US" sz="1500" dirty="0">
                <a:latin typeface="Garamond" panose="02020404030301010803" pitchFamily="18" charset="0"/>
              </a:rPr>
            </a:br>
            <a:r>
              <a:rPr lang="en-US" altLang="en-US" sz="1500" dirty="0">
                <a:latin typeface="Garamond" panose="02020404030301010803" pitchFamily="18" charset="0"/>
              </a:rPr>
              <a:t>The mobile app listens to fall updates through a foreground service and displays immediate local notifications using </a:t>
            </a:r>
            <a:r>
              <a:rPr lang="en-US" altLang="en-US" sz="1500" dirty="0" err="1">
                <a:latin typeface="Garamond" panose="02020404030301010803" pitchFamily="18" charset="0"/>
              </a:rPr>
              <a:t>FallDetectionService</a:t>
            </a:r>
            <a:r>
              <a:rPr lang="en-US" altLang="en-US" sz="1500" dirty="0">
                <a:latin typeface="Garamond" panose="02020404030301010803" pitchFamily="18" charset="0"/>
              </a:rPr>
              <a:t>, even after device reboot (via </a:t>
            </a:r>
            <a:r>
              <a:rPr lang="en-US" altLang="en-US" sz="1500" dirty="0" err="1">
                <a:latin typeface="Garamond" panose="02020404030301010803" pitchFamily="18" charset="0"/>
              </a:rPr>
              <a:t>BootReceiver</a:t>
            </a:r>
            <a:r>
              <a:rPr lang="en-US" altLang="en-US" sz="1500" dirty="0">
                <a:latin typeface="Garamond" panose="02020404030301010803"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Garamond" panose="02020404030301010803"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400" dirty="0">
              <a:latin typeface="Garamond" panose="02020404030301010803"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400" dirty="0">
              <a:latin typeface="Garamond" panose="02020404030301010803"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400" dirty="0">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Garamond" panose="02020404030301010803" pitchFamily="18" charset="0"/>
            </a:endParaRPr>
          </a:p>
          <a:p>
            <a:endParaRPr lang="en-IN" sz="1400" dirty="0">
              <a:effectLst/>
              <a:latin typeface="Garamond" panose="02020404030301010803" pitchFamily="18" charset="0"/>
              <a:ea typeface="Times New Roman" panose="02020603050405020304" pitchFamily="18" charset="0"/>
            </a:endParaRPr>
          </a:p>
          <a:p>
            <a:endParaRPr lang="en-IN" sz="1400" dirty="0">
              <a:latin typeface="Garamond" panose="02020404030301010803" pitchFamily="18" charset="0"/>
            </a:endParaRPr>
          </a:p>
        </p:txBody>
      </p:sp>
      <p:pic>
        <p:nvPicPr>
          <p:cNvPr id="8" name="Picture 7">
            <a:extLst>
              <a:ext uri="{FF2B5EF4-FFF2-40B4-BE49-F238E27FC236}">
                <a16:creationId xmlns:a16="http://schemas.microsoft.com/office/drawing/2014/main" id="{023B7843-C538-B06F-1E70-AE4C7D371F64}"/>
              </a:ext>
            </a:extLst>
          </p:cNvPr>
          <p:cNvPicPr>
            <a:picLocks noChangeAspect="1"/>
          </p:cNvPicPr>
          <p:nvPr/>
        </p:nvPicPr>
        <p:blipFill>
          <a:blip r:embed="rId2"/>
          <a:stretch>
            <a:fillRect/>
          </a:stretch>
        </p:blipFill>
        <p:spPr>
          <a:xfrm>
            <a:off x="8809212" y="1326274"/>
            <a:ext cx="2674731" cy="4205452"/>
          </a:xfrm>
          <a:prstGeom prst="rect">
            <a:avLst/>
          </a:prstGeom>
          <a:ln>
            <a:solidFill>
              <a:schemeClr val="tx1"/>
            </a:solidFill>
          </a:ln>
        </p:spPr>
      </p:pic>
    </p:spTree>
    <p:extLst>
      <p:ext uri="{BB962C8B-B14F-4D97-AF65-F5344CB8AC3E}">
        <p14:creationId xmlns:p14="http://schemas.microsoft.com/office/powerpoint/2010/main" val="4033021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D0DAE-E051-0A4A-BD41-2F045B5A7D0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33E186C-7718-EF9A-5F99-63D7B7221603}"/>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GPS and Location Tracking Module</a:t>
            </a:r>
            <a:endParaRPr lang="en-IN" sz="3000" b="1" dirty="0"/>
          </a:p>
        </p:txBody>
      </p:sp>
      <p:sp>
        <p:nvSpPr>
          <p:cNvPr id="4" name="TextBox 3">
            <a:extLst>
              <a:ext uri="{FF2B5EF4-FFF2-40B4-BE49-F238E27FC236}">
                <a16:creationId xmlns:a16="http://schemas.microsoft.com/office/drawing/2014/main" id="{3F06FF17-D5DA-4370-AE7F-1D077460A391}"/>
              </a:ext>
            </a:extLst>
          </p:cNvPr>
          <p:cNvSpPr txBox="1"/>
          <p:nvPr/>
        </p:nvSpPr>
        <p:spPr>
          <a:xfrm>
            <a:off x="708057" y="735130"/>
            <a:ext cx="7254843" cy="6858288"/>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Garamond" panose="02020404030301010803" pitchFamily="18" charset="0"/>
            </a:endParaRPr>
          </a:p>
          <a:p>
            <a:pPr defTabSz="914400" eaLnBrk="0" fontAlgn="base" hangingPunct="0">
              <a:spcBef>
                <a:spcPct val="0"/>
              </a:spcBef>
              <a:spcAft>
                <a:spcPts val="1000"/>
              </a:spcAft>
            </a:pPr>
            <a:r>
              <a:rPr lang="en-US" altLang="en-US" sz="1700" b="1" dirty="0">
                <a:solidFill>
                  <a:srgbClr val="7030A0"/>
                </a:solidFill>
                <a:latin typeface="Garamond" panose="02020404030301010803" pitchFamily="18" charset="0"/>
              </a:rPr>
              <a:t>Location Acquisition and Transmission:</a:t>
            </a:r>
            <a:br>
              <a:rPr lang="en-US" altLang="en-US" sz="1700" b="1" dirty="0">
                <a:solidFill>
                  <a:srgbClr val="7030A0"/>
                </a:solidFill>
                <a:latin typeface="Garamond" panose="02020404030301010803" pitchFamily="18" charset="0"/>
              </a:rPr>
            </a:br>
            <a:r>
              <a:rPr lang="en-US" altLang="en-US" sz="1700" dirty="0">
                <a:latin typeface="Garamond" panose="02020404030301010803" pitchFamily="18" charset="0"/>
              </a:rPr>
              <a:t>The NEO-6M GPS module is used to continuously acquire the real-time geographic coordinates of the user. The </a:t>
            </a:r>
            <a:r>
              <a:rPr lang="en-US" altLang="en-US" sz="1700" dirty="0" err="1">
                <a:latin typeface="Garamond" panose="02020404030301010803" pitchFamily="18" charset="0"/>
              </a:rPr>
              <a:t>TinyGPSPlus</a:t>
            </a:r>
            <a:r>
              <a:rPr lang="en-US" altLang="en-US" sz="1700" dirty="0">
                <a:latin typeface="Garamond" panose="02020404030301010803" pitchFamily="18" charset="0"/>
              </a:rPr>
              <a:t> library running on the ESP32 parses this data into readable latitude and longitude values.</a:t>
            </a:r>
          </a:p>
          <a:p>
            <a:pPr defTabSz="914400" eaLnBrk="0" fontAlgn="base" hangingPunct="0">
              <a:spcBef>
                <a:spcPct val="0"/>
              </a:spcBef>
              <a:spcAft>
                <a:spcPts val="500"/>
              </a:spcAft>
            </a:pPr>
            <a:r>
              <a:rPr lang="en-US" altLang="en-US" sz="1700" b="1" dirty="0">
                <a:solidFill>
                  <a:srgbClr val="7030A0"/>
                </a:solidFill>
                <a:latin typeface="Garamond" panose="02020404030301010803" pitchFamily="18" charset="0"/>
              </a:rPr>
              <a:t>Algorithm Flow:</a:t>
            </a:r>
          </a:p>
          <a:p>
            <a:pPr marL="342900" indent="-342900" algn="just" defTabSz="914400" eaLnBrk="0" fontAlgn="base" hangingPunct="0">
              <a:spcBef>
                <a:spcPct val="0"/>
              </a:spcBef>
              <a:spcAft>
                <a:spcPts val="500"/>
              </a:spcAft>
              <a:buFont typeface="Arial" panose="020B0604020202020204" pitchFamily="34" charset="0"/>
              <a:buChar char="•"/>
            </a:pPr>
            <a:r>
              <a:rPr lang="en-US" altLang="en-US" sz="1700" dirty="0">
                <a:latin typeface="Garamond" panose="02020404030301010803" pitchFamily="18" charset="0"/>
              </a:rPr>
              <a:t>The ESP32 reads GPS data via UART, parses it using </a:t>
            </a:r>
            <a:r>
              <a:rPr lang="en-US" altLang="en-US" sz="1700" dirty="0" err="1">
                <a:latin typeface="Garamond" panose="02020404030301010803" pitchFamily="18" charset="0"/>
              </a:rPr>
              <a:t>TinyGPSPlus</a:t>
            </a:r>
            <a:r>
              <a:rPr lang="en-US" altLang="en-US" sz="1700" dirty="0">
                <a:latin typeface="Garamond" panose="02020404030301010803" pitchFamily="18" charset="0"/>
              </a:rPr>
              <a:t>, and pushes updated coordinates to Firebase Realtime Database every 5 seconds.</a:t>
            </a:r>
          </a:p>
          <a:p>
            <a:pPr marL="342900" indent="-342900" algn="just" defTabSz="914400" eaLnBrk="0" fontAlgn="base" hangingPunct="0">
              <a:spcBef>
                <a:spcPct val="0"/>
              </a:spcBef>
              <a:spcAft>
                <a:spcPts val="1000"/>
              </a:spcAft>
              <a:buFont typeface="Arial" panose="020B0604020202020204" pitchFamily="34" charset="0"/>
              <a:buChar char="•"/>
            </a:pPr>
            <a:r>
              <a:rPr lang="en-US" altLang="en-US" sz="1700" dirty="0">
                <a:latin typeface="Garamond" panose="02020404030301010803" pitchFamily="18" charset="0"/>
              </a:rPr>
              <a:t>These updates are performed over Wi-Fi, ensuring consistent cloud synchronization.</a:t>
            </a:r>
          </a:p>
          <a:p>
            <a:pPr defTabSz="914400" eaLnBrk="0" fontAlgn="base" hangingPunct="0">
              <a:spcBef>
                <a:spcPct val="0"/>
              </a:spcBef>
              <a:spcAft>
                <a:spcPts val="500"/>
              </a:spcAft>
            </a:pPr>
            <a:r>
              <a:rPr lang="en-US" altLang="en-US" sz="1700" b="1" dirty="0">
                <a:solidFill>
                  <a:srgbClr val="7030A0"/>
                </a:solidFill>
                <a:latin typeface="Garamond" panose="02020404030301010803" pitchFamily="18" charset="0"/>
              </a:rPr>
              <a:t>App Integration:</a:t>
            </a:r>
            <a:br>
              <a:rPr lang="en-US" altLang="en-US" sz="1700" b="1" dirty="0">
                <a:solidFill>
                  <a:srgbClr val="7030A0"/>
                </a:solidFill>
                <a:latin typeface="Garamond" panose="02020404030301010803" pitchFamily="18" charset="0"/>
              </a:rPr>
            </a:br>
            <a:r>
              <a:rPr lang="en-US" altLang="en-US" sz="1700" dirty="0">
                <a:latin typeface="Garamond" panose="02020404030301010803" pitchFamily="18" charset="0"/>
              </a:rPr>
              <a:t>The mobile application listens to the GPS node in Firebase and reflects the live location of the cane on Google Maps. The app uses </a:t>
            </a:r>
            <a:r>
              <a:rPr lang="en-US" altLang="en-US" sz="1700" dirty="0" err="1">
                <a:latin typeface="Garamond" panose="02020404030301010803" pitchFamily="18" charset="0"/>
              </a:rPr>
              <a:t>LocationViewModel</a:t>
            </a:r>
            <a:r>
              <a:rPr lang="en-US" altLang="en-US" sz="1700" dirty="0">
                <a:latin typeface="Garamond" panose="02020404030301010803" pitchFamily="18" charset="0"/>
              </a:rPr>
              <a:t> to track location changes and update the map dynamically in real time.</a:t>
            </a:r>
          </a:p>
          <a:p>
            <a:pPr defTabSz="914400" eaLnBrk="0" fontAlgn="base" hangingPunct="0">
              <a:spcBef>
                <a:spcPct val="0"/>
              </a:spcBef>
              <a:spcAft>
                <a:spcPts val="1500"/>
              </a:spcAf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latin typeface="Garamond" panose="02020404030301010803"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latin typeface="Garamond" panose="02020404030301010803"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endParaRPr lang="en-IN" sz="1700" dirty="0">
              <a:effectLst/>
              <a:latin typeface="Garamond" panose="02020404030301010803" pitchFamily="18" charset="0"/>
              <a:ea typeface="Times New Roman" panose="02020603050405020304" pitchFamily="18" charset="0"/>
            </a:endParaRPr>
          </a:p>
          <a:p>
            <a:endParaRPr lang="en-IN" sz="1700" dirty="0"/>
          </a:p>
        </p:txBody>
      </p:sp>
      <p:pic>
        <p:nvPicPr>
          <p:cNvPr id="6" name="Picture 5">
            <a:extLst>
              <a:ext uri="{FF2B5EF4-FFF2-40B4-BE49-F238E27FC236}">
                <a16:creationId xmlns:a16="http://schemas.microsoft.com/office/drawing/2014/main" id="{AC5C09FD-90F1-9800-8528-57E3B550B56E}"/>
              </a:ext>
            </a:extLst>
          </p:cNvPr>
          <p:cNvPicPr>
            <a:picLocks noChangeAspect="1"/>
          </p:cNvPicPr>
          <p:nvPr/>
        </p:nvPicPr>
        <p:blipFill>
          <a:blip r:embed="rId2"/>
          <a:stretch>
            <a:fillRect/>
          </a:stretch>
        </p:blipFill>
        <p:spPr>
          <a:xfrm>
            <a:off x="8385914" y="1012129"/>
            <a:ext cx="3324250" cy="4542493"/>
          </a:xfrm>
          <a:prstGeom prst="rect">
            <a:avLst/>
          </a:prstGeom>
        </p:spPr>
      </p:pic>
    </p:spTree>
    <p:extLst>
      <p:ext uri="{BB962C8B-B14F-4D97-AF65-F5344CB8AC3E}">
        <p14:creationId xmlns:p14="http://schemas.microsoft.com/office/powerpoint/2010/main" val="2261192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2982D-8518-4BAC-84B5-9CD9B71F5FD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4C3FDA1-1384-2BB6-FFAA-BB7C16A2AFA0}"/>
              </a:ext>
            </a:extLst>
          </p:cNvPr>
          <p:cNvSpPr txBox="1"/>
          <p:nvPr/>
        </p:nvSpPr>
        <p:spPr>
          <a:xfrm>
            <a:off x="612807" y="47718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Turn-by-turn Navigation</a:t>
            </a:r>
            <a:endParaRPr lang="en-IN" sz="3000" b="1" dirty="0"/>
          </a:p>
        </p:txBody>
      </p:sp>
      <p:sp>
        <p:nvSpPr>
          <p:cNvPr id="4" name="TextBox 3">
            <a:extLst>
              <a:ext uri="{FF2B5EF4-FFF2-40B4-BE49-F238E27FC236}">
                <a16:creationId xmlns:a16="http://schemas.microsoft.com/office/drawing/2014/main" id="{79675B3C-9C95-54B3-6AAC-F994D72A954E}"/>
              </a:ext>
            </a:extLst>
          </p:cNvPr>
          <p:cNvSpPr txBox="1"/>
          <p:nvPr/>
        </p:nvSpPr>
        <p:spPr>
          <a:xfrm>
            <a:off x="708057" y="364429"/>
            <a:ext cx="7140543" cy="75482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Garamond" panose="02020404030301010803" pitchFamily="18" charset="0"/>
            </a:endParaRPr>
          </a:p>
          <a:p>
            <a:pPr marL="285750" marR="0" lvl="0" indent="-285750" algn="l" defTabSz="914400" rtl="0" eaLnBrk="0" fontAlgn="base" latinLnBrk="0" hangingPunct="0">
              <a:lnSpc>
                <a:spcPct val="100000"/>
              </a:lnSpc>
              <a:spcBef>
                <a:spcPct val="0"/>
              </a:spcBef>
              <a:spcAft>
                <a:spcPts val="300"/>
              </a:spcAft>
              <a:buClrTx/>
              <a:buSzTx/>
              <a:buFont typeface="Arial" panose="020B0604020202020204" pitchFamily="34" charset="0"/>
              <a:buChar char="•"/>
              <a:tabLst/>
            </a:pPr>
            <a:endParaRPr lang="en-US" altLang="en-US" dirty="0">
              <a:latin typeface="Garamond" panose="02020404030301010803" pitchFamily="18" charset="0"/>
            </a:endParaRPr>
          </a:p>
          <a:p>
            <a:pPr marR="0" lvl="0" algn="l" defTabSz="914400" rtl="0" eaLnBrk="0" fontAlgn="base" latinLnBrk="0" hangingPunct="0">
              <a:lnSpc>
                <a:spcPct val="100000"/>
              </a:lnSpc>
              <a:spcBef>
                <a:spcPct val="0"/>
              </a:spcBef>
              <a:spcAft>
                <a:spcPts val="1200"/>
              </a:spcAft>
              <a:buClrTx/>
              <a:buSzTx/>
              <a:tabLst/>
            </a:pPr>
            <a:r>
              <a:rPr lang="en-US" altLang="en-US" b="1" dirty="0">
                <a:solidFill>
                  <a:srgbClr val="7030A0"/>
                </a:solidFill>
                <a:latin typeface="Garamond" panose="02020404030301010803" pitchFamily="18" charset="0"/>
              </a:rPr>
              <a:t>Route Generation and Data Structuring:</a:t>
            </a:r>
            <a:br>
              <a:rPr lang="en-US" altLang="en-US" dirty="0">
                <a:latin typeface="Garamond" panose="02020404030301010803" pitchFamily="18" charset="0"/>
              </a:rPr>
            </a:br>
            <a:r>
              <a:rPr lang="en-US" altLang="en-US" dirty="0">
                <a:latin typeface="Garamond" panose="02020404030301010803" pitchFamily="18" charset="0"/>
              </a:rPr>
              <a:t>When a caregiver selects a destination from the app, the Google Directions API is used to generate a sequence of steps, each containing instruction text, location (latitude, longitude), and an audio file reference.</a:t>
            </a:r>
          </a:p>
          <a:p>
            <a:pPr marR="0" lvl="0" algn="l" defTabSz="914400" rtl="0" eaLnBrk="0" fontAlgn="base" latinLnBrk="0" hangingPunct="0">
              <a:lnSpc>
                <a:spcPct val="100000"/>
              </a:lnSpc>
              <a:spcBef>
                <a:spcPct val="0"/>
              </a:spcBef>
              <a:spcAft>
                <a:spcPts val="300"/>
              </a:spcAft>
              <a:buClrTx/>
              <a:buSzTx/>
              <a:tabLst/>
            </a:pPr>
            <a:r>
              <a:rPr lang="en-US" altLang="en-US" b="1" dirty="0">
                <a:solidFill>
                  <a:srgbClr val="7030A0"/>
                </a:solidFill>
                <a:latin typeface="Garamond" panose="02020404030301010803" pitchFamily="18" charset="0"/>
              </a:rPr>
              <a:t>Algorithm Flow:</a:t>
            </a:r>
          </a:p>
          <a:p>
            <a:pPr marL="285750" marR="0" lvl="0" indent="-285750" algn="l" defTabSz="914400" rtl="0" eaLnBrk="0" fontAlgn="base" latinLnBrk="0" hangingPunct="0">
              <a:lnSpc>
                <a:spcPct val="100000"/>
              </a:lnSpc>
              <a:spcBef>
                <a:spcPct val="0"/>
              </a:spcBef>
              <a:spcAft>
                <a:spcPts val="300"/>
              </a:spcAft>
              <a:buClrTx/>
              <a:buSzTx/>
              <a:buFont typeface="Arial" panose="020B0604020202020204" pitchFamily="34" charset="0"/>
              <a:buChar char="•"/>
              <a:tabLst/>
            </a:pPr>
            <a:r>
              <a:rPr lang="en-US" altLang="en-US" dirty="0">
                <a:latin typeface="Garamond" panose="02020404030301010803" pitchFamily="18" charset="0"/>
              </a:rPr>
              <a:t>Steps are stored in </a:t>
            </a:r>
            <a:r>
              <a:rPr lang="en-US" altLang="en-US" dirty="0" err="1">
                <a:latin typeface="Garamond" panose="02020404030301010803" pitchFamily="18" charset="0"/>
              </a:rPr>
              <a:t>Firestore</a:t>
            </a:r>
            <a:r>
              <a:rPr lang="en-US" altLang="en-US" dirty="0">
                <a:latin typeface="Garamond" panose="02020404030301010803" pitchFamily="18" charset="0"/>
              </a:rPr>
              <a:t> under RouteDetails.</a:t>
            </a:r>
          </a:p>
          <a:p>
            <a:pPr marL="285750" marR="0" lvl="0" indent="-285750" algn="l" defTabSz="914400" rtl="0" eaLnBrk="0" fontAlgn="base" latinLnBrk="0" hangingPunct="0">
              <a:lnSpc>
                <a:spcPct val="100000"/>
              </a:lnSpc>
              <a:spcBef>
                <a:spcPct val="0"/>
              </a:spcBef>
              <a:spcAft>
                <a:spcPts val="300"/>
              </a:spcAft>
              <a:buClrTx/>
              <a:buSzTx/>
              <a:buFont typeface="Arial" panose="020B0604020202020204" pitchFamily="34" charset="0"/>
              <a:buChar char="•"/>
              <a:tabLst/>
            </a:pPr>
            <a:r>
              <a:rPr lang="en-US" altLang="en-US" dirty="0">
                <a:latin typeface="Garamond" panose="02020404030301010803" pitchFamily="18" charset="0"/>
              </a:rPr>
              <a:t>ESP32 fetches and compares current GPS coordinates with the target step.</a:t>
            </a:r>
          </a:p>
          <a:p>
            <a:pPr marL="285750" marR="0" lvl="0" indent="-285750" algn="l" defTabSz="914400" rtl="0" eaLnBrk="0" fontAlgn="base" latinLnBrk="0" hangingPunct="0">
              <a:lnSpc>
                <a:spcPct val="100000"/>
              </a:lnSpc>
              <a:spcBef>
                <a:spcPct val="0"/>
              </a:spcBef>
              <a:spcAft>
                <a:spcPts val="300"/>
              </a:spcAft>
              <a:buClrTx/>
              <a:buSzTx/>
              <a:buFont typeface="Arial" panose="020B0604020202020204" pitchFamily="34" charset="0"/>
              <a:buChar char="•"/>
              <a:tabLst/>
            </a:pPr>
            <a:r>
              <a:rPr lang="en-US" altLang="en-US" dirty="0">
                <a:latin typeface="Garamond" panose="02020404030301010803" pitchFamily="18" charset="0"/>
              </a:rPr>
              <a:t>If within a 10m radius, the corresponding audio is played.</a:t>
            </a:r>
          </a:p>
          <a:p>
            <a:pPr marL="285750" marR="0" lvl="0" indent="-285750" algn="l"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lang="en-US" altLang="en-US" dirty="0">
                <a:latin typeface="Garamond" panose="02020404030301010803" pitchFamily="18" charset="0"/>
              </a:rPr>
              <a:t>After the final step, </a:t>
            </a:r>
            <a:r>
              <a:rPr lang="en-US" altLang="en-US" dirty="0" err="1">
                <a:latin typeface="Garamond" panose="02020404030301010803" pitchFamily="18" charset="0"/>
              </a:rPr>
              <a:t>Nav_Flag</a:t>
            </a:r>
            <a:r>
              <a:rPr lang="en-US" altLang="en-US" dirty="0">
                <a:latin typeface="Garamond" panose="02020404030301010803" pitchFamily="18" charset="0"/>
              </a:rPr>
              <a:t> is set to false, ending the navigation session.</a:t>
            </a:r>
          </a:p>
          <a:p>
            <a:pPr marR="0" lvl="0" algn="l" defTabSz="914400" rtl="0" eaLnBrk="0" fontAlgn="base" latinLnBrk="0" hangingPunct="0">
              <a:lnSpc>
                <a:spcPct val="100000"/>
              </a:lnSpc>
              <a:spcBef>
                <a:spcPct val="0"/>
              </a:spcBef>
              <a:spcAft>
                <a:spcPts val="300"/>
              </a:spcAft>
              <a:buClrTx/>
              <a:buSzTx/>
              <a:tabLst/>
            </a:pPr>
            <a:r>
              <a:rPr lang="en-US" altLang="en-US" b="1" dirty="0">
                <a:solidFill>
                  <a:srgbClr val="7030A0"/>
                </a:solidFill>
                <a:latin typeface="Garamond" panose="02020404030301010803" pitchFamily="18" charset="0"/>
              </a:rPr>
              <a:t>App Integration:</a:t>
            </a:r>
            <a:br>
              <a:rPr lang="en-US" altLang="en-US" dirty="0">
                <a:latin typeface="Garamond" panose="02020404030301010803" pitchFamily="18" charset="0"/>
              </a:rPr>
            </a:br>
            <a:r>
              <a:rPr lang="en-US" altLang="en-US" dirty="0">
                <a:latin typeface="Garamond" panose="02020404030301010803" pitchFamily="18" charset="0"/>
              </a:rPr>
              <a:t>The app prepares and uploads all route instructions and audio links to </a:t>
            </a:r>
            <a:r>
              <a:rPr lang="en-US" altLang="en-US" dirty="0" err="1">
                <a:latin typeface="Garamond" panose="02020404030301010803" pitchFamily="18" charset="0"/>
              </a:rPr>
              <a:t>Firestore</a:t>
            </a:r>
            <a:r>
              <a:rPr lang="en-US" altLang="en-US" dirty="0">
                <a:latin typeface="Garamond" panose="02020404030301010803" pitchFamily="18" charset="0"/>
              </a:rPr>
              <a:t>. It also sets </a:t>
            </a:r>
            <a:r>
              <a:rPr lang="en-US" altLang="en-US" dirty="0" err="1">
                <a:latin typeface="Garamond" panose="02020404030301010803" pitchFamily="18" charset="0"/>
              </a:rPr>
              <a:t>Nav_Flag</a:t>
            </a:r>
            <a:r>
              <a:rPr lang="en-US" altLang="en-US" dirty="0">
                <a:latin typeface="Garamond" panose="02020404030301010803" pitchFamily="18" charset="0"/>
              </a:rPr>
              <a:t> = true to signal navigation has started. Once completed, the flag is reset.</a:t>
            </a:r>
          </a:p>
          <a:p>
            <a:pPr marL="285750" marR="0" lvl="0" indent="-285750" algn="l" defTabSz="914400" rtl="0" eaLnBrk="0" fontAlgn="base" latinLnBrk="0" hangingPunct="0">
              <a:lnSpc>
                <a:spcPct val="100000"/>
              </a:lnSpc>
              <a:spcBef>
                <a:spcPct val="0"/>
              </a:spcBef>
              <a:spcAft>
                <a:spcPts val="300"/>
              </a:spcAft>
              <a:buClrTx/>
              <a:buSzTx/>
              <a:buFont typeface="Arial" panose="020B0604020202020204" pitchFamily="34" charset="0"/>
              <a:buChar char="•"/>
              <a:tabLst/>
            </a:pPr>
            <a:endParaRPr lang="en-US" altLang="en-US" dirty="0">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latin typeface="Garamond" panose="02020404030301010803"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latin typeface="Garamond" panose="02020404030301010803"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endParaRPr lang="en-IN" sz="1700" dirty="0">
              <a:effectLst/>
              <a:latin typeface="Garamond" panose="02020404030301010803" pitchFamily="18" charset="0"/>
              <a:ea typeface="Times New Roman" panose="02020603050405020304" pitchFamily="18" charset="0"/>
            </a:endParaRPr>
          </a:p>
          <a:p>
            <a:endParaRPr lang="en-IN" sz="1700" dirty="0"/>
          </a:p>
        </p:txBody>
      </p:sp>
      <p:pic>
        <p:nvPicPr>
          <p:cNvPr id="8" name="Picture 7">
            <a:extLst>
              <a:ext uri="{FF2B5EF4-FFF2-40B4-BE49-F238E27FC236}">
                <a16:creationId xmlns:a16="http://schemas.microsoft.com/office/drawing/2014/main" id="{61A4F083-4B33-3CEA-9C47-360392B36CDB}"/>
              </a:ext>
            </a:extLst>
          </p:cNvPr>
          <p:cNvPicPr>
            <a:picLocks noChangeAspect="1"/>
          </p:cNvPicPr>
          <p:nvPr/>
        </p:nvPicPr>
        <p:blipFill>
          <a:blip r:embed="rId2"/>
          <a:stretch>
            <a:fillRect/>
          </a:stretch>
        </p:blipFill>
        <p:spPr>
          <a:xfrm>
            <a:off x="7976441" y="1541969"/>
            <a:ext cx="3910759" cy="3774061"/>
          </a:xfrm>
          <a:prstGeom prst="rect">
            <a:avLst/>
          </a:prstGeom>
          <a:ln>
            <a:solidFill>
              <a:schemeClr val="tx1"/>
            </a:solidFill>
          </a:ln>
        </p:spPr>
      </p:pic>
    </p:spTree>
    <p:extLst>
      <p:ext uri="{BB962C8B-B14F-4D97-AF65-F5344CB8AC3E}">
        <p14:creationId xmlns:p14="http://schemas.microsoft.com/office/powerpoint/2010/main" val="1352444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73E1F-5A3E-F6C9-6118-9B21ADD57E6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BEA8C6F-B9B5-0583-DD5C-CB5EF6134F76}"/>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Obstacle Detection and  User Alert</a:t>
            </a:r>
          </a:p>
        </p:txBody>
      </p:sp>
      <p:sp>
        <p:nvSpPr>
          <p:cNvPr id="4" name="TextBox 3">
            <a:extLst>
              <a:ext uri="{FF2B5EF4-FFF2-40B4-BE49-F238E27FC236}">
                <a16:creationId xmlns:a16="http://schemas.microsoft.com/office/drawing/2014/main" id="{B9F734EC-C3F0-DFAC-6597-14BD70F03514}"/>
              </a:ext>
            </a:extLst>
          </p:cNvPr>
          <p:cNvSpPr txBox="1"/>
          <p:nvPr/>
        </p:nvSpPr>
        <p:spPr>
          <a:xfrm>
            <a:off x="708057" y="43934"/>
            <a:ext cx="6369018" cy="90640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Garamond" panose="02020404030301010803" pitchFamily="18" charset="0"/>
            </a:endParaRPr>
          </a:p>
          <a:p>
            <a:pPr marL="285750" marR="0" lvl="0" indent="-285750" algn="l" defTabSz="914400" rtl="0" eaLnBrk="0" fontAlgn="base" latinLnBrk="0" hangingPunct="0">
              <a:lnSpc>
                <a:spcPct val="100000"/>
              </a:lnSpc>
              <a:spcBef>
                <a:spcPct val="0"/>
              </a:spcBef>
              <a:spcAft>
                <a:spcPts val="300"/>
              </a:spcAft>
              <a:buClrTx/>
              <a:buSzTx/>
              <a:buFont typeface="Arial" panose="020B0604020202020204" pitchFamily="34" charset="0"/>
              <a:buChar char="•"/>
              <a:tabLst/>
            </a:pPr>
            <a:endParaRPr lang="en-US" altLang="en-US" dirty="0">
              <a:latin typeface="Garamond" panose="02020404030301010803" pitchFamily="18" charset="0"/>
            </a:endParaRPr>
          </a:p>
          <a:p>
            <a:pPr marL="285750" marR="0" lvl="0" indent="-285750" algn="l" defTabSz="914400" rtl="0" eaLnBrk="0" fontAlgn="base" latinLnBrk="0" hangingPunct="0">
              <a:lnSpc>
                <a:spcPct val="100000"/>
              </a:lnSpc>
              <a:spcBef>
                <a:spcPct val="0"/>
              </a:spcBef>
              <a:spcAft>
                <a:spcPts val="300"/>
              </a:spcAft>
              <a:buClrTx/>
              <a:buSzTx/>
              <a:buFont typeface="Arial" panose="020B0604020202020204" pitchFamily="34" charset="0"/>
              <a:buChar char="•"/>
              <a:tabLst/>
            </a:pPr>
            <a:endParaRPr lang="en-US" altLang="en-US" dirty="0">
              <a:latin typeface="Garamond" panose="02020404030301010803" pitchFamily="18" charset="0"/>
            </a:endParaRPr>
          </a:p>
          <a:p>
            <a:pPr marL="0" marR="0" lvl="0" indent="0" algn="l" defTabSz="914400" rtl="0" eaLnBrk="0" fontAlgn="base" latinLnBrk="0" hangingPunct="0">
              <a:lnSpc>
                <a:spcPct val="100000"/>
              </a:lnSpc>
              <a:spcBef>
                <a:spcPct val="0"/>
              </a:spcBef>
              <a:spcAft>
                <a:spcPts val="1200"/>
              </a:spcAft>
              <a:buClrTx/>
              <a:buSzTx/>
              <a:buFontTx/>
              <a:buNone/>
              <a:tabLst/>
              <a:defRPr/>
            </a:pPr>
            <a:r>
              <a:rPr kumimoji="0" lang="en-US" altLang="en-US" sz="1570" b="1" i="0" u="none" strike="noStrike" kern="1200" cap="none" spc="0" normalizeH="0" baseline="0" noProof="0" dirty="0">
                <a:ln>
                  <a:noFill/>
                </a:ln>
                <a:solidFill>
                  <a:srgbClr val="7030A0"/>
                </a:solidFill>
                <a:effectLst/>
                <a:uLnTx/>
                <a:uFillTx/>
                <a:latin typeface="Garamond" panose="02020404030301010803" pitchFamily="18" charset="0"/>
              </a:rPr>
              <a:t>Object Detection and Proximity Handling:</a:t>
            </a:r>
            <a:br>
              <a:rPr kumimoji="0" lang="en-US" altLang="en-US" sz="1570" b="0" i="0" u="none" strike="noStrike" kern="1200" cap="none" spc="0" normalizeH="0" baseline="0" noProof="0" dirty="0">
                <a:ln>
                  <a:noFill/>
                </a:ln>
                <a:solidFill>
                  <a:prstClr val="black"/>
                </a:solidFill>
                <a:effectLst/>
                <a:uLnTx/>
                <a:uFillTx/>
                <a:latin typeface="Garamond" panose="02020404030301010803" pitchFamily="18" charset="0"/>
              </a:rPr>
            </a:br>
            <a:r>
              <a:rPr kumimoji="0" lang="en-US" altLang="en-US" sz="1570" b="0" i="0" u="none" strike="noStrike" kern="1200" cap="none" spc="0" normalizeH="0" baseline="0" noProof="0" dirty="0">
                <a:ln>
                  <a:noFill/>
                </a:ln>
                <a:solidFill>
                  <a:prstClr val="black"/>
                </a:solidFill>
                <a:effectLst/>
                <a:uLnTx/>
                <a:uFillTx/>
                <a:latin typeface="Garamond" panose="02020404030301010803" pitchFamily="18" charset="0"/>
              </a:rPr>
              <a:t>Three ultrasonic sensors positioned on the front, left, and right sides of the cane measure the distance to nearby obstacles. Readings are processed by the ESP32 using the time-of-flight method.</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570" b="1" i="0" u="none" strike="noStrike" kern="1200" cap="none" spc="0" normalizeH="0" baseline="0" noProof="0" dirty="0">
                <a:ln>
                  <a:noFill/>
                </a:ln>
                <a:solidFill>
                  <a:srgbClr val="7030A0"/>
                </a:solidFill>
                <a:effectLst/>
                <a:uLnTx/>
                <a:uFillTx/>
                <a:latin typeface="Garamond" panose="02020404030301010803" pitchFamily="18" charset="0"/>
              </a:rPr>
              <a:t>Algorithm Flow:</a:t>
            </a:r>
            <a:endParaRPr kumimoji="0" lang="en-US" altLang="en-US" sz="1570" b="0" i="0" u="none" strike="noStrike" kern="1200" cap="none" spc="0" normalizeH="0" baseline="0" noProof="0" dirty="0">
              <a:ln>
                <a:noFill/>
              </a:ln>
              <a:solidFill>
                <a:srgbClr val="7030A0"/>
              </a:solidFill>
              <a:effectLst/>
              <a:uLnTx/>
              <a:uFillTx/>
              <a:latin typeface="Garamond" panose="02020404030301010803"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570" b="0" i="0" u="none" strike="noStrike" kern="1200" cap="none" spc="0" normalizeH="0" baseline="0" noProof="0" dirty="0">
                <a:ln>
                  <a:noFill/>
                </a:ln>
                <a:solidFill>
                  <a:prstClr val="black"/>
                </a:solidFill>
                <a:effectLst/>
                <a:uLnTx/>
                <a:uFillTx/>
                <a:latin typeface="Garamond" panose="02020404030301010803" pitchFamily="18" charset="0"/>
              </a:rPr>
              <a:t>A trigger pulse is sent and echo time is measured.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570" b="0" i="0" u="none" strike="noStrike" kern="1200" cap="none" spc="0" normalizeH="0" baseline="0" noProof="0" dirty="0">
                <a:ln>
                  <a:noFill/>
                </a:ln>
                <a:solidFill>
                  <a:prstClr val="black"/>
                </a:solidFill>
                <a:effectLst/>
                <a:uLnTx/>
                <a:uFillTx/>
                <a:latin typeface="Garamond" panose="02020404030301010803" pitchFamily="18" charset="0"/>
              </a:rPr>
              <a:t>Distance is calculated using: </a:t>
            </a:r>
            <a:r>
              <a:rPr kumimoji="0" lang="en-US" altLang="en-US" sz="1570" b="1" i="0" u="none" strike="noStrike" kern="1200" cap="none" spc="0" normalizeH="0" baseline="0" noProof="0" dirty="0">
                <a:ln>
                  <a:noFill/>
                </a:ln>
                <a:solidFill>
                  <a:prstClr val="black"/>
                </a:solidFill>
                <a:effectLst/>
                <a:uLnTx/>
                <a:uFillTx/>
                <a:latin typeface="Garamond" panose="02020404030301010803" pitchFamily="18" charset="0"/>
              </a:rPr>
              <a:t>Distance = (duration × 0.034) / 2.</a:t>
            </a:r>
          </a:p>
          <a:p>
            <a:pPr marL="285750" marR="0" lvl="0" indent="-285750" algn="l" defTabSz="914400" rtl="0" eaLnBrk="0" fontAlgn="base" latinLnBrk="0" hangingPunct="0">
              <a:lnSpc>
                <a:spcPct val="100000"/>
              </a:lnSpc>
              <a:spcBef>
                <a:spcPct val="0"/>
              </a:spcBef>
              <a:spcAft>
                <a:spcPts val="1200"/>
              </a:spcAft>
              <a:buClrTx/>
              <a:buSzTx/>
              <a:buFont typeface="Arial" panose="020B0604020202020204" pitchFamily="34" charset="0"/>
              <a:buChar char="•"/>
              <a:tabLst/>
              <a:defRPr/>
            </a:pPr>
            <a:r>
              <a:rPr kumimoji="0" lang="en-US" altLang="en-US" sz="1570" b="0" i="0" u="none" strike="noStrike" kern="1200" cap="none" spc="0" normalizeH="0" baseline="0" noProof="0" dirty="0">
                <a:ln>
                  <a:noFill/>
                </a:ln>
                <a:solidFill>
                  <a:prstClr val="black"/>
                </a:solidFill>
                <a:effectLst/>
                <a:uLnTx/>
                <a:uFillTx/>
                <a:latin typeface="Garamond" panose="02020404030301010803" pitchFamily="18" charset="0"/>
              </a:rPr>
              <a:t>If distance is between 5 cm and 100 cm, a vibration motor is activated to warn the user.</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570" b="1" i="0" u="none" strike="noStrike" kern="1200" cap="none" spc="0" normalizeH="0" baseline="0" noProof="0" dirty="0">
                <a:ln>
                  <a:noFill/>
                </a:ln>
                <a:solidFill>
                  <a:srgbClr val="7030A0"/>
                </a:solidFill>
                <a:effectLst/>
                <a:uLnTx/>
                <a:uFillTx/>
                <a:latin typeface="Garamond" panose="02020404030301010803" pitchFamily="18" charset="0"/>
              </a:rPr>
              <a:t>Haptic Feedback:</a:t>
            </a:r>
          </a:p>
          <a:p>
            <a:pPr marL="0" marR="0" lvl="0" indent="0" algn="l" defTabSz="914400" rtl="0" eaLnBrk="0" fontAlgn="base" latinLnBrk="0" hangingPunct="0">
              <a:lnSpc>
                <a:spcPct val="100000"/>
              </a:lnSpc>
              <a:spcBef>
                <a:spcPct val="0"/>
              </a:spcBef>
              <a:spcAft>
                <a:spcPct val="0"/>
              </a:spcAft>
              <a:buClrTx/>
              <a:buSzTx/>
              <a:buFontTx/>
              <a:buNone/>
              <a:tabLst/>
              <a:defRPr/>
            </a:pPr>
            <a:r>
              <a:rPr lang="en-US" sz="1570" dirty="0">
                <a:latin typeface="Garamond" panose="02020404030301010803" pitchFamily="18" charset="0"/>
              </a:rPr>
              <a:t>The Smart Cane uses simple vibration-based haptic feedback to alert the user when an obstacle is detected or when navigation instructions are received. This allows the user to stay aware of their surroundings , thus improving safety and ease of use during movement.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570" b="0" i="0" u="none" strike="noStrike" kern="1200" cap="none" spc="0" normalizeH="0" baseline="0" noProof="0" dirty="0">
              <a:ln>
                <a:noFill/>
              </a:ln>
              <a:solidFill>
                <a:prstClr val="black"/>
              </a:solidFill>
              <a:effectLst/>
              <a:uLnTx/>
              <a:uFillTx/>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570" b="1" dirty="0">
                <a:solidFill>
                  <a:srgbClr val="7030A0"/>
                </a:solidFill>
                <a:latin typeface="Garamond" panose="02020404030301010803" pitchFamily="18" charset="0"/>
              </a:rPr>
              <a:t>Audio Feedback:</a:t>
            </a:r>
            <a:br>
              <a:rPr kumimoji="0" lang="en-US" altLang="en-US" sz="1570" b="0" i="0" u="none" strike="noStrike" kern="1200" cap="none" spc="0" normalizeH="0" baseline="0" noProof="0" dirty="0">
                <a:ln>
                  <a:noFill/>
                </a:ln>
                <a:solidFill>
                  <a:prstClr val="black"/>
                </a:solidFill>
                <a:effectLst/>
                <a:uLnTx/>
                <a:uFillTx/>
                <a:latin typeface="Garamond" panose="02020404030301010803" pitchFamily="18" charset="0"/>
              </a:rPr>
            </a:br>
            <a:r>
              <a:rPr kumimoji="0" lang="en-US" altLang="en-US" sz="1570" b="0" i="0" u="none" strike="noStrike" kern="1200" cap="none" spc="0" normalizeH="0" baseline="0" noProof="0" dirty="0">
                <a:ln>
                  <a:noFill/>
                </a:ln>
                <a:solidFill>
                  <a:prstClr val="black"/>
                </a:solidFill>
                <a:effectLst/>
                <a:uLnTx/>
                <a:uFillTx/>
                <a:latin typeface="Garamond" panose="02020404030301010803" pitchFamily="18" charset="0"/>
              </a:rPr>
              <a:t>Navigation instructions stored as audio files in Firebase Storage are fetched and played via the MAX98357A I2S DAC and a connected speaker. Playback is triggered when the user reaches a navigation step location.</a:t>
            </a:r>
          </a:p>
          <a:p>
            <a:pPr marL="285750" marR="0" lvl="0" indent="-285750" algn="l" defTabSz="914400" rtl="0" eaLnBrk="0" fontAlgn="base" latinLnBrk="0" hangingPunct="0">
              <a:lnSpc>
                <a:spcPct val="100000"/>
              </a:lnSpc>
              <a:spcBef>
                <a:spcPct val="0"/>
              </a:spcBef>
              <a:spcAft>
                <a:spcPts val="300"/>
              </a:spcAft>
              <a:buClrTx/>
              <a:buSzTx/>
              <a:buFont typeface="Arial" panose="020B0604020202020204" pitchFamily="34" charset="0"/>
              <a:buChar char="•"/>
              <a:tabLst/>
            </a:pPr>
            <a:endParaRPr lang="en-US" altLang="en-US" dirty="0">
              <a:latin typeface="Garamond" panose="02020404030301010803" pitchFamily="18" charset="0"/>
            </a:endParaRPr>
          </a:p>
          <a:p>
            <a:pPr marL="285750" marR="0" lvl="0" indent="-285750" algn="l" defTabSz="914400" rtl="0" eaLnBrk="0" fontAlgn="base" latinLnBrk="0" hangingPunct="0">
              <a:lnSpc>
                <a:spcPct val="100000"/>
              </a:lnSpc>
              <a:spcBef>
                <a:spcPct val="0"/>
              </a:spcBef>
              <a:spcAft>
                <a:spcPts val="300"/>
              </a:spcAft>
              <a:buClrTx/>
              <a:buSzTx/>
              <a:buFont typeface="Arial" panose="020B0604020202020204" pitchFamily="34" charset="0"/>
              <a:buChar char="•"/>
              <a:tabLst/>
            </a:pPr>
            <a:endParaRPr lang="en-US" altLang="en-US" dirty="0">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latin typeface="Garamond" panose="02020404030301010803"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latin typeface="Garamond" panose="02020404030301010803"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endParaRPr lang="en-IN" sz="1700" dirty="0">
              <a:effectLst/>
              <a:latin typeface="Garamond" panose="02020404030301010803" pitchFamily="18" charset="0"/>
              <a:ea typeface="Times New Roman" panose="02020603050405020304" pitchFamily="18" charset="0"/>
            </a:endParaRPr>
          </a:p>
          <a:p>
            <a:endParaRPr lang="en-IN" sz="1700" dirty="0"/>
          </a:p>
        </p:txBody>
      </p:sp>
      <p:sp>
        <p:nvSpPr>
          <p:cNvPr id="8" name="Rectangle 3">
            <a:extLst>
              <a:ext uri="{FF2B5EF4-FFF2-40B4-BE49-F238E27FC236}">
                <a16:creationId xmlns:a16="http://schemas.microsoft.com/office/drawing/2014/main" id="{87034B33-1EEB-86ED-1997-42F37C4DADED}"/>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93A591B9-0E02-17F0-4D3E-88B9A5C56D0E}"/>
              </a:ext>
            </a:extLst>
          </p:cNvPr>
          <p:cNvPicPr>
            <a:picLocks noChangeAspect="1"/>
          </p:cNvPicPr>
          <p:nvPr/>
        </p:nvPicPr>
        <p:blipFill>
          <a:blip r:embed="rId2"/>
          <a:stretch>
            <a:fillRect/>
          </a:stretch>
        </p:blipFill>
        <p:spPr>
          <a:xfrm>
            <a:off x="7538272" y="1426326"/>
            <a:ext cx="4468755" cy="3560373"/>
          </a:xfrm>
          <a:prstGeom prst="rect">
            <a:avLst/>
          </a:prstGeom>
          <a:ln>
            <a:solidFill>
              <a:schemeClr val="tx1"/>
            </a:solidFill>
          </a:ln>
        </p:spPr>
      </p:pic>
    </p:spTree>
    <p:extLst>
      <p:ext uri="{BB962C8B-B14F-4D97-AF65-F5344CB8AC3E}">
        <p14:creationId xmlns:p14="http://schemas.microsoft.com/office/powerpoint/2010/main" val="3138689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C58B9-AACD-21C6-296F-B5E67356C81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D8C5142-9567-5F7D-8F5B-A7E448943412}"/>
              </a:ext>
            </a:extLst>
          </p:cNvPr>
          <p:cNvSpPr txBox="1"/>
          <p:nvPr/>
        </p:nvSpPr>
        <p:spPr>
          <a:xfrm>
            <a:off x="708057" y="458131"/>
            <a:ext cx="10418652" cy="553998"/>
          </a:xfrm>
          <a:prstGeom prst="rect">
            <a:avLst/>
          </a:prstGeom>
          <a:noFill/>
        </p:spPr>
        <p:txBody>
          <a:bodyPr wrap="square">
            <a:spAutoFit/>
          </a:bodyPr>
          <a:lstStyle/>
          <a:p>
            <a:r>
              <a:rPr lang="en-US" sz="3000" b="1" dirty="0">
                <a:solidFill>
                  <a:schemeClr val="accent1"/>
                </a:solidFill>
                <a:latin typeface="Garamond" panose="02020404030301010803" pitchFamily="18" charset="0"/>
              </a:rPr>
              <a:t>F</a:t>
            </a:r>
            <a:r>
              <a:rPr lang="en-IN" sz="3000" b="1" dirty="0" err="1">
                <a:solidFill>
                  <a:schemeClr val="accent1"/>
                </a:solidFill>
                <a:latin typeface="Garamond" panose="02020404030301010803" pitchFamily="18" charset="0"/>
              </a:rPr>
              <a:t>irebase</a:t>
            </a:r>
            <a:r>
              <a:rPr lang="en-IN" sz="3000" b="1" dirty="0">
                <a:solidFill>
                  <a:schemeClr val="accent1"/>
                </a:solidFill>
                <a:latin typeface="Garamond" panose="02020404030301010803" pitchFamily="18" charset="0"/>
              </a:rPr>
              <a:t> Integration</a:t>
            </a:r>
          </a:p>
        </p:txBody>
      </p:sp>
      <p:sp>
        <p:nvSpPr>
          <p:cNvPr id="4" name="TextBox 3">
            <a:extLst>
              <a:ext uri="{FF2B5EF4-FFF2-40B4-BE49-F238E27FC236}">
                <a16:creationId xmlns:a16="http://schemas.microsoft.com/office/drawing/2014/main" id="{4C5BCBA3-92D5-273B-5E64-AC1F9D9A9D09}"/>
              </a:ext>
            </a:extLst>
          </p:cNvPr>
          <p:cNvSpPr txBox="1"/>
          <p:nvPr/>
        </p:nvSpPr>
        <p:spPr>
          <a:xfrm>
            <a:off x="708056" y="43934"/>
            <a:ext cx="8778843" cy="819198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700" dirty="0">
              <a:latin typeface="Garamond" panose="02020404030301010803" pitchFamily="18" charset="0"/>
            </a:endParaRPr>
          </a:p>
          <a:p>
            <a:pPr marL="285750" marR="0" lvl="0" indent="-285750" algn="l" defTabSz="914400" rtl="0" eaLnBrk="0" fontAlgn="base" latinLnBrk="0" hangingPunct="0">
              <a:lnSpc>
                <a:spcPct val="100000"/>
              </a:lnSpc>
              <a:spcBef>
                <a:spcPct val="0"/>
              </a:spcBef>
              <a:spcAft>
                <a:spcPts val="300"/>
              </a:spcAft>
              <a:buClrTx/>
              <a:buSzTx/>
              <a:buFont typeface="Arial" panose="020B0604020202020204" pitchFamily="34" charset="0"/>
              <a:buChar char="•"/>
              <a:tabLst/>
            </a:pPr>
            <a:endParaRPr lang="en-US" altLang="en-US" sz="1700" dirty="0">
              <a:latin typeface="Garamond" panose="02020404030301010803" pitchFamily="18" charset="0"/>
            </a:endParaRPr>
          </a:p>
          <a:p>
            <a:pPr marL="285750" marR="0" lvl="0" indent="-285750" algn="l" defTabSz="914400" rtl="0" eaLnBrk="0" fontAlgn="base" latinLnBrk="0" hangingPunct="0">
              <a:lnSpc>
                <a:spcPct val="100000"/>
              </a:lnSpc>
              <a:spcBef>
                <a:spcPct val="0"/>
              </a:spcBef>
              <a:spcAft>
                <a:spcPts val="300"/>
              </a:spcAft>
              <a:buClrTx/>
              <a:buSzTx/>
              <a:buFont typeface="Arial" panose="020B0604020202020204" pitchFamily="34" charset="0"/>
              <a:buChar char="•"/>
              <a:tabLst/>
            </a:pPr>
            <a:endParaRPr lang="en-US" altLang="en-US" sz="1700" dirty="0">
              <a:latin typeface="Garamond" panose="02020404030301010803" pitchFamily="18" charset="0"/>
            </a:endParaRPr>
          </a:p>
          <a:p>
            <a:pPr>
              <a:spcAft>
                <a:spcPts val="1500"/>
              </a:spcAft>
              <a:buNone/>
            </a:pPr>
            <a:r>
              <a:rPr lang="en-US" sz="1700" b="1" dirty="0">
                <a:solidFill>
                  <a:srgbClr val="7030A0"/>
                </a:solidFill>
                <a:latin typeface="Garamond" panose="02020404030301010803" pitchFamily="18" charset="0"/>
              </a:rPr>
              <a:t>Data Synchronization and Communication:</a:t>
            </a:r>
            <a:br>
              <a:rPr lang="en-US" sz="1700" dirty="0">
                <a:latin typeface="Garamond" panose="02020404030301010803" pitchFamily="18" charset="0"/>
              </a:rPr>
            </a:br>
            <a:r>
              <a:rPr lang="en-US" sz="1700" dirty="0">
                <a:latin typeface="Garamond" panose="02020404030301010803" pitchFamily="18" charset="0"/>
              </a:rPr>
              <a:t>Firebase forms the central communication backbone that links the Smart Cane hardware with the caregiver’s mobile app. The ESP32 microcontroller continuously updates sensor data—such as GPS coordinates and fall detection flags—to Firebase Realtime Database, while structured navigation steps and audio file references are stored in </a:t>
            </a:r>
            <a:r>
              <a:rPr lang="en-US" sz="1700" dirty="0" err="1">
                <a:latin typeface="Garamond" panose="02020404030301010803" pitchFamily="18" charset="0"/>
              </a:rPr>
              <a:t>Firestore</a:t>
            </a:r>
            <a:r>
              <a:rPr lang="en-US" sz="1700" dirty="0">
                <a:latin typeface="Garamond" panose="02020404030301010803" pitchFamily="18" charset="0"/>
              </a:rPr>
              <a:t>. Additionally, audio files for navigation are stored in Firebase Storage.</a:t>
            </a:r>
          </a:p>
          <a:p>
            <a:pPr>
              <a:spcAft>
                <a:spcPts val="300"/>
              </a:spcAft>
              <a:buNone/>
            </a:pPr>
            <a:r>
              <a:rPr lang="en-US" sz="1700" b="1" dirty="0">
                <a:solidFill>
                  <a:srgbClr val="7030A0"/>
                </a:solidFill>
                <a:latin typeface="Garamond" panose="02020404030301010803" pitchFamily="18" charset="0"/>
              </a:rPr>
              <a:t>Algorithm Flow:</a:t>
            </a:r>
            <a:endParaRPr lang="en-US" sz="1700" dirty="0">
              <a:solidFill>
                <a:srgbClr val="7030A0"/>
              </a:solidFill>
              <a:latin typeface="Garamond" panose="02020404030301010803" pitchFamily="18" charset="0"/>
            </a:endParaRPr>
          </a:p>
          <a:p>
            <a:pPr marL="285750" indent="-285750">
              <a:spcAft>
                <a:spcPts val="500"/>
              </a:spcAft>
              <a:buFont typeface="Arial" panose="020B0604020202020204" pitchFamily="34" charset="0"/>
              <a:buChar char="•"/>
            </a:pPr>
            <a:r>
              <a:rPr lang="en-US" sz="1700" dirty="0">
                <a:latin typeface="Garamond" panose="02020404030301010803" pitchFamily="18" charset="0"/>
              </a:rPr>
              <a:t>ESP32 gathers sensor data and constructs JSON objects for upload.</a:t>
            </a:r>
          </a:p>
          <a:p>
            <a:pPr marL="285750" indent="-285750">
              <a:spcAft>
                <a:spcPts val="500"/>
              </a:spcAft>
              <a:buFont typeface="Arial" panose="020B0604020202020204" pitchFamily="34" charset="0"/>
              <a:buChar char="•"/>
            </a:pPr>
            <a:r>
              <a:rPr lang="en-US" sz="1700" dirty="0">
                <a:latin typeface="Garamond" panose="02020404030301010803" pitchFamily="18" charset="0"/>
              </a:rPr>
              <a:t>Periodically, it updates designated nodes in the Firebase Realtime Database using secure HTTPS calls.</a:t>
            </a:r>
          </a:p>
          <a:p>
            <a:pPr marL="285750" indent="-285750">
              <a:spcAft>
                <a:spcPts val="500"/>
              </a:spcAft>
              <a:buFont typeface="Arial" panose="020B0604020202020204" pitchFamily="34" charset="0"/>
              <a:buChar char="•"/>
            </a:pPr>
            <a:r>
              <a:rPr lang="en-US" sz="1700" dirty="0">
                <a:latin typeface="Garamond" panose="02020404030301010803" pitchFamily="18" charset="0"/>
              </a:rPr>
              <a:t>For navigation, the system retrieves updated route instructions from </a:t>
            </a:r>
            <a:r>
              <a:rPr lang="en-US" sz="1700" dirty="0" err="1">
                <a:latin typeface="Garamond" panose="02020404030301010803" pitchFamily="18" charset="0"/>
              </a:rPr>
              <a:t>Firestore</a:t>
            </a:r>
            <a:r>
              <a:rPr lang="en-US" sz="1700" dirty="0">
                <a:latin typeface="Garamond" panose="02020404030301010803" pitchFamily="18" charset="0"/>
              </a:rPr>
              <a:t>, which includes GPS points, textual directions, and links to corresponding audio files.</a:t>
            </a:r>
          </a:p>
          <a:p>
            <a:pPr marL="285750" indent="-285750">
              <a:buFont typeface="Arial" panose="020B0604020202020204" pitchFamily="34" charset="0"/>
              <a:buChar char="•"/>
            </a:pPr>
            <a:r>
              <a:rPr lang="en-US" sz="1700" dirty="0">
                <a:latin typeface="Garamond" panose="02020404030301010803" pitchFamily="18" charset="0"/>
              </a:rPr>
              <a:t>Audio assets are stored in Firebase Storage and are referenced by </a:t>
            </a:r>
            <a:r>
              <a:rPr lang="en-US" sz="1700" dirty="0" err="1">
                <a:latin typeface="Garamond" panose="02020404030301010803" pitchFamily="18" charset="0"/>
              </a:rPr>
              <a:t>Firestore</a:t>
            </a:r>
            <a:r>
              <a:rPr lang="en-US" sz="1700" dirty="0">
                <a:latin typeface="Garamond" panose="02020404030301010803" pitchFamily="18" charset="0"/>
              </a:rPr>
              <a:t>, enabling the Smart Cane to fetch and play them when required.</a:t>
            </a:r>
          </a:p>
          <a:p>
            <a:pPr marL="285750" marR="0" lvl="0" indent="-285750" algn="l" defTabSz="914400" rtl="0" eaLnBrk="0" fontAlgn="base" latinLnBrk="0" hangingPunct="0">
              <a:lnSpc>
                <a:spcPct val="100000"/>
              </a:lnSpc>
              <a:spcBef>
                <a:spcPct val="0"/>
              </a:spcBef>
              <a:spcAft>
                <a:spcPts val="300"/>
              </a:spcAft>
              <a:buClrTx/>
              <a:buSzTx/>
              <a:buFont typeface="Arial" panose="020B0604020202020204" pitchFamily="34" charset="0"/>
              <a:buChar char="•"/>
              <a:tabLst/>
            </a:pPr>
            <a:endParaRPr lang="en-US" altLang="en-US" sz="1700" dirty="0">
              <a:latin typeface="Garamond" panose="02020404030301010803" pitchFamily="18" charset="0"/>
            </a:endParaRPr>
          </a:p>
          <a:p>
            <a:pPr marL="285750" marR="0" lvl="0" indent="-285750" algn="l" defTabSz="914400" rtl="0" eaLnBrk="0" fontAlgn="base" latinLnBrk="0" hangingPunct="0">
              <a:lnSpc>
                <a:spcPct val="100000"/>
              </a:lnSpc>
              <a:spcBef>
                <a:spcPct val="0"/>
              </a:spcBef>
              <a:spcAft>
                <a:spcPts val="300"/>
              </a:spcAft>
              <a:buClrTx/>
              <a:buSzTx/>
              <a:buFont typeface="Arial" panose="020B0604020202020204" pitchFamily="34" charset="0"/>
              <a:buChar char="•"/>
              <a:tabLst/>
            </a:pPr>
            <a:endParaRPr lang="en-US" altLang="en-US" sz="1700" dirty="0">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700" dirty="0">
              <a:latin typeface="Garamond" panose="02020404030301010803"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700" dirty="0">
              <a:latin typeface="Garamond" panose="02020404030301010803"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700" dirty="0">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a:p>
            <a:endParaRPr lang="en-IN" sz="1700" dirty="0">
              <a:effectLst/>
              <a:latin typeface="Garamond" panose="02020404030301010803" pitchFamily="18" charset="0"/>
              <a:ea typeface="Times New Roman" panose="02020603050405020304" pitchFamily="18" charset="0"/>
            </a:endParaRPr>
          </a:p>
          <a:p>
            <a:endParaRPr lang="en-IN" sz="1700" dirty="0"/>
          </a:p>
        </p:txBody>
      </p:sp>
      <p:sp>
        <p:nvSpPr>
          <p:cNvPr id="8" name="Rectangle 3">
            <a:extLst>
              <a:ext uri="{FF2B5EF4-FFF2-40B4-BE49-F238E27FC236}">
                <a16:creationId xmlns:a16="http://schemas.microsoft.com/office/drawing/2014/main" id="{9FA83B45-DDDF-1352-1F9C-28B615A3FD1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91768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BDACD-A7E1-2C9D-749F-23242EEDE63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A7DC6BB-D95A-7A1B-1711-A51018F9EDFC}"/>
              </a:ext>
            </a:extLst>
          </p:cNvPr>
          <p:cNvSpPr txBox="1"/>
          <p:nvPr/>
        </p:nvSpPr>
        <p:spPr>
          <a:xfrm>
            <a:off x="708057" y="492118"/>
            <a:ext cx="10418652" cy="553998"/>
          </a:xfrm>
          <a:prstGeom prst="rect">
            <a:avLst/>
          </a:prstGeom>
          <a:noFill/>
        </p:spPr>
        <p:txBody>
          <a:bodyPr wrap="square">
            <a:spAutoFit/>
          </a:bodyPr>
          <a:lstStyle/>
          <a:p>
            <a:r>
              <a:rPr lang="en-US" sz="3000" b="1" dirty="0">
                <a:solidFill>
                  <a:schemeClr val="accent1"/>
                </a:solidFill>
                <a:latin typeface="Garamond" panose="02020404030301010803" pitchFamily="18" charset="0"/>
              </a:rPr>
              <a:t>F</a:t>
            </a:r>
            <a:r>
              <a:rPr lang="en-IN" sz="3000" b="1" dirty="0" err="1">
                <a:solidFill>
                  <a:schemeClr val="accent1"/>
                </a:solidFill>
                <a:latin typeface="Garamond" panose="02020404030301010803" pitchFamily="18" charset="0"/>
              </a:rPr>
              <a:t>irebase</a:t>
            </a:r>
            <a:r>
              <a:rPr lang="en-IN" sz="3000" b="1" dirty="0">
                <a:solidFill>
                  <a:schemeClr val="accent1"/>
                </a:solidFill>
                <a:latin typeface="Garamond" panose="02020404030301010803" pitchFamily="18" charset="0"/>
              </a:rPr>
              <a:t> Integration</a:t>
            </a:r>
          </a:p>
        </p:txBody>
      </p:sp>
      <p:sp>
        <p:nvSpPr>
          <p:cNvPr id="4" name="TextBox 3">
            <a:extLst>
              <a:ext uri="{FF2B5EF4-FFF2-40B4-BE49-F238E27FC236}">
                <a16:creationId xmlns:a16="http://schemas.microsoft.com/office/drawing/2014/main" id="{7D78D264-C5C1-CEF1-79A9-290049D3838F}"/>
              </a:ext>
            </a:extLst>
          </p:cNvPr>
          <p:cNvSpPr txBox="1"/>
          <p:nvPr/>
        </p:nvSpPr>
        <p:spPr>
          <a:xfrm>
            <a:off x="708058" y="1308742"/>
            <a:ext cx="5607018" cy="4098558"/>
          </a:xfrm>
          <a:prstGeom prst="rect">
            <a:avLst/>
          </a:prstGeom>
          <a:noFill/>
        </p:spPr>
        <p:txBody>
          <a:bodyPr wrap="square" rtlCol="0">
            <a:spAutoFit/>
          </a:bodyPr>
          <a:lstStyle/>
          <a:p>
            <a:pPr>
              <a:spcAft>
                <a:spcPts val="600"/>
              </a:spcAft>
              <a:buNone/>
            </a:pPr>
            <a:r>
              <a:rPr lang="en-US" sz="1900" b="1" dirty="0">
                <a:solidFill>
                  <a:srgbClr val="7030A0"/>
                </a:solidFill>
                <a:latin typeface="Garamond" panose="02020404030301010803" pitchFamily="18" charset="0"/>
              </a:rPr>
              <a:t>App Integration:</a:t>
            </a:r>
            <a:endParaRPr lang="en-US" sz="1900" dirty="0">
              <a:solidFill>
                <a:srgbClr val="7030A0"/>
              </a:solidFill>
              <a:latin typeface="Garamond" panose="02020404030301010803" pitchFamily="18" charset="0"/>
            </a:endParaRPr>
          </a:p>
          <a:p>
            <a:pPr marL="285750" indent="-285750">
              <a:spcAft>
                <a:spcPts val="500"/>
              </a:spcAft>
              <a:buFont typeface="Arial" panose="020B0604020202020204" pitchFamily="34" charset="0"/>
              <a:buChar char="•"/>
            </a:pPr>
            <a:r>
              <a:rPr lang="en-US" sz="1900" dirty="0">
                <a:latin typeface="Garamond" panose="02020404030301010803" pitchFamily="18" charset="0"/>
              </a:rPr>
              <a:t>The mobile application employs real-time listeners on both Firebase Realtime Database and </a:t>
            </a:r>
            <a:r>
              <a:rPr lang="en-US" sz="1900" dirty="0" err="1">
                <a:latin typeface="Garamond" panose="02020404030301010803" pitchFamily="18" charset="0"/>
              </a:rPr>
              <a:t>Firestore</a:t>
            </a:r>
            <a:r>
              <a:rPr lang="en-US" sz="1900" dirty="0">
                <a:latin typeface="Garamond" panose="02020404030301010803" pitchFamily="18" charset="0"/>
              </a:rPr>
              <a:t> to continuously monitor the user’s location, navigation status, and fall alerts.</a:t>
            </a:r>
          </a:p>
          <a:p>
            <a:pPr marL="285750" indent="-285750">
              <a:spcAft>
                <a:spcPts val="500"/>
              </a:spcAft>
              <a:buFont typeface="Arial" panose="020B0604020202020204" pitchFamily="34" charset="0"/>
              <a:buChar char="•"/>
            </a:pPr>
            <a:r>
              <a:rPr lang="en-US" sz="1900" dirty="0">
                <a:latin typeface="Garamond" panose="02020404030301010803" pitchFamily="18" charset="0"/>
              </a:rPr>
              <a:t>Upon detecting changes—such as a fall notification or updated GPS coordinates—the app immediately updates the user interface and triggers local notifications for caregivers.</a:t>
            </a:r>
          </a:p>
          <a:p>
            <a:pPr marL="285750" indent="-285750">
              <a:buFont typeface="Arial" panose="020B0604020202020204" pitchFamily="34" charset="0"/>
              <a:buChar char="•"/>
            </a:pPr>
            <a:r>
              <a:rPr lang="en-US" sz="1900" dirty="0">
                <a:latin typeface="Garamond" panose="02020404030301010803" pitchFamily="18" charset="0"/>
              </a:rPr>
              <a:t>This bi-directional data flow ensures that both the Smart Cane and mobile app remain synchronized, providing timely updates and responses for enhanced user safety and navigation accuracy.</a:t>
            </a:r>
          </a:p>
        </p:txBody>
      </p:sp>
      <p:sp>
        <p:nvSpPr>
          <p:cNvPr id="8" name="Rectangle 3">
            <a:extLst>
              <a:ext uri="{FF2B5EF4-FFF2-40B4-BE49-F238E27FC236}">
                <a16:creationId xmlns:a16="http://schemas.microsoft.com/office/drawing/2014/main" id="{4314C8B5-5EE9-5883-A54D-E12AC0D3EE42}"/>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DE215874-8924-AB8E-79FF-740A7BD70C71}"/>
              </a:ext>
            </a:extLst>
          </p:cNvPr>
          <p:cNvPicPr>
            <a:picLocks noChangeAspect="1"/>
          </p:cNvPicPr>
          <p:nvPr/>
        </p:nvPicPr>
        <p:blipFill>
          <a:blip r:embed="rId2"/>
          <a:stretch>
            <a:fillRect/>
          </a:stretch>
        </p:blipFill>
        <p:spPr>
          <a:xfrm>
            <a:off x="6975626" y="758895"/>
            <a:ext cx="4740124" cy="5340209"/>
          </a:xfrm>
          <a:prstGeom prst="rect">
            <a:avLst/>
          </a:prstGeom>
          <a:ln>
            <a:solidFill>
              <a:schemeClr val="tx1"/>
            </a:solidFill>
          </a:ln>
        </p:spPr>
      </p:pic>
    </p:spTree>
    <p:extLst>
      <p:ext uri="{BB962C8B-B14F-4D97-AF65-F5344CB8AC3E}">
        <p14:creationId xmlns:p14="http://schemas.microsoft.com/office/powerpoint/2010/main" val="2334400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A2D35-1963-2B4E-0C59-06E47E00FCA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E74A209-4290-8685-9EC0-EFF0C289F028}"/>
              </a:ext>
            </a:extLst>
          </p:cNvPr>
          <p:cNvSpPr txBox="1"/>
          <p:nvPr/>
        </p:nvSpPr>
        <p:spPr>
          <a:xfrm>
            <a:off x="708057" y="492118"/>
            <a:ext cx="10418652" cy="553998"/>
          </a:xfrm>
          <a:prstGeom prst="rect">
            <a:avLst/>
          </a:prstGeom>
          <a:noFill/>
        </p:spPr>
        <p:txBody>
          <a:bodyPr wrap="square">
            <a:spAutoFit/>
          </a:bodyPr>
          <a:lstStyle/>
          <a:p>
            <a:r>
              <a:rPr lang="en-US" sz="3000" b="1" dirty="0">
                <a:solidFill>
                  <a:schemeClr val="accent1"/>
                </a:solidFill>
                <a:latin typeface="Garamond" panose="02020404030301010803" pitchFamily="18" charset="0"/>
              </a:rPr>
              <a:t>Cane Connect Mobile Application</a:t>
            </a:r>
            <a:endParaRPr lang="en-IN" sz="3000" b="1" dirty="0">
              <a:solidFill>
                <a:schemeClr val="accent1"/>
              </a:solidFill>
              <a:latin typeface="Garamond" panose="02020404030301010803" pitchFamily="18" charset="0"/>
            </a:endParaRPr>
          </a:p>
        </p:txBody>
      </p:sp>
      <p:sp>
        <p:nvSpPr>
          <p:cNvPr id="4" name="TextBox 3">
            <a:extLst>
              <a:ext uri="{FF2B5EF4-FFF2-40B4-BE49-F238E27FC236}">
                <a16:creationId xmlns:a16="http://schemas.microsoft.com/office/drawing/2014/main" id="{F2BF515F-7F24-8A0A-04D2-9EC9900FB435}"/>
              </a:ext>
            </a:extLst>
          </p:cNvPr>
          <p:cNvSpPr txBox="1"/>
          <p:nvPr/>
        </p:nvSpPr>
        <p:spPr>
          <a:xfrm>
            <a:off x="708058" y="1321847"/>
            <a:ext cx="8254968" cy="4888518"/>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0"/>
              </a:spcBef>
              <a:spcAft>
                <a:spcPts val="10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Garamond" panose="02020404030301010803" pitchFamily="18" charset="0"/>
              </a:rPr>
              <a:t>The Cane Connect mobile application serves as the interface between the caregiver and the Smart Cane, enabling real-time monitoring and remote assistance.</a:t>
            </a:r>
          </a:p>
          <a:p>
            <a:pPr marL="342900" marR="0" lvl="0" indent="-342900" algn="l" defTabSz="914400" rtl="0" eaLnBrk="0" fontAlgn="base" latinLnBrk="0" hangingPunct="0">
              <a:lnSpc>
                <a:spcPct val="100000"/>
              </a:lnSpc>
              <a:spcBef>
                <a:spcPct val="0"/>
              </a:spcBef>
              <a:spcAft>
                <a:spcPts val="10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Garamond" panose="02020404030301010803" pitchFamily="18" charset="0"/>
              </a:rPr>
              <a:t>It retrieves live GPS coordinates and fall detection flags from Firebase Realtime Database, displaying the cane's position on a Google Maps interface.</a:t>
            </a:r>
          </a:p>
          <a:p>
            <a:pPr marL="342900" marR="0" lvl="0" indent="-342900" algn="l" defTabSz="914400" rtl="0" eaLnBrk="0" fontAlgn="base" latinLnBrk="0" hangingPunct="0">
              <a:lnSpc>
                <a:spcPct val="100000"/>
              </a:lnSpc>
              <a:spcBef>
                <a:spcPct val="0"/>
              </a:spcBef>
              <a:spcAft>
                <a:spcPts val="10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Garamond" panose="02020404030301010803" pitchFamily="18" charset="0"/>
              </a:rPr>
              <a:t>Navigation instructions and audio file links are stored in </a:t>
            </a:r>
            <a:r>
              <a:rPr kumimoji="0" lang="en-US" altLang="en-US" b="0" i="0" u="none" strike="noStrike" cap="none" normalizeH="0" baseline="0" dirty="0" err="1">
                <a:ln>
                  <a:noFill/>
                </a:ln>
                <a:solidFill>
                  <a:schemeClr val="tx1"/>
                </a:solidFill>
                <a:effectLst/>
                <a:latin typeface="Garamond" panose="02020404030301010803" pitchFamily="18" charset="0"/>
              </a:rPr>
              <a:t>Firestore</a:t>
            </a:r>
            <a:r>
              <a:rPr kumimoji="0" lang="en-US" altLang="en-US" b="0" i="0" u="none" strike="noStrike" cap="none" normalizeH="0" baseline="0" dirty="0">
                <a:ln>
                  <a:noFill/>
                </a:ln>
                <a:solidFill>
                  <a:schemeClr val="tx1"/>
                </a:solidFill>
                <a:effectLst/>
                <a:latin typeface="Garamond" panose="02020404030301010803" pitchFamily="18" charset="0"/>
              </a:rPr>
              <a:t>; the app facilitates route generation via the Google Directions API and uploads these structured steps.</a:t>
            </a:r>
          </a:p>
          <a:p>
            <a:pPr marL="342900" marR="0" lvl="0" indent="-342900" algn="l" defTabSz="914400" rtl="0" eaLnBrk="0" fontAlgn="base" latinLnBrk="0" hangingPunct="0">
              <a:lnSpc>
                <a:spcPct val="100000"/>
              </a:lnSpc>
              <a:spcBef>
                <a:spcPct val="0"/>
              </a:spcBef>
              <a:spcAft>
                <a:spcPts val="10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Garamond" panose="02020404030301010803" pitchFamily="18" charset="0"/>
              </a:rPr>
              <a:t>The app employs background services and local notifications to alert caregivers immediately on detection of a fall or abnormal event, ensuring timely emergency response.</a:t>
            </a:r>
          </a:p>
          <a:p>
            <a:pPr marL="342900" marR="0" lvl="0" indent="-342900" algn="l" defTabSz="914400" rtl="0" eaLnBrk="0" fontAlgn="base" latinLnBrk="0" hangingPunct="0">
              <a:lnSpc>
                <a:spcPct val="100000"/>
              </a:lnSpc>
              <a:spcBef>
                <a:spcPct val="0"/>
              </a:spcBef>
              <a:spcAft>
                <a:spcPts val="10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Garamond" panose="02020404030301010803" pitchFamily="18" charset="0"/>
              </a:rPr>
              <a:t>Built using Android's modern development frameworks (Jetpack Compose, Kotlin, and </a:t>
            </a:r>
            <a:r>
              <a:rPr kumimoji="0" lang="en-US" altLang="en-US" b="0" i="0" u="none" strike="noStrike" cap="none" normalizeH="0" baseline="0" dirty="0" err="1">
                <a:ln>
                  <a:noFill/>
                </a:ln>
                <a:solidFill>
                  <a:schemeClr val="tx1"/>
                </a:solidFill>
                <a:effectLst/>
                <a:latin typeface="Garamond" panose="02020404030301010803" pitchFamily="18" charset="0"/>
              </a:rPr>
              <a:t>ViewModel</a:t>
            </a:r>
            <a:r>
              <a:rPr kumimoji="0" lang="en-US" altLang="en-US" b="0" i="0" u="none" strike="noStrike" cap="none" normalizeH="0" baseline="0" dirty="0">
                <a:ln>
                  <a:noFill/>
                </a:ln>
                <a:solidFill>
                  <a:schemeClr val="tx1"/>
                </a:solidFill>
                <a:effectLst/>
                <a:latin typeface="Garamond" panose="02020404030301010803" pitchFamily="18" charset="0"/>
              </a:rPr>
              <a:t>), the app maintains reactive UI updates and seamless data synchronization through Firebase.</a:t>
            </a:r>
          </a:p>
          <a:p>
            <a:pPr marL="342900" marR="0" lvl="0" indent="-342900" algn="l" defTabSz="914400" rtl="0" eaLnBrk="0" fontAlgn="base" latinLnBrk="0" hangingPunct="0">
              <a:lnSpc>
                <a:spcPct val="100000"/>
              </a:lnSpc>
              <a:spcBef>
                <a:spcPct val="0"/>
              </a:spcBef>
              <a:spcAft>
                <a:spcPts val="10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Garamond" panose="02020404030301010803" pitchFamily="18" charset="0"/>
              </a:rPr>
              <a:t>The overall integration enables bidirectional communication: the Smart Cane sends sensor data to Firebase, while the mobile application updates navigation parameters and alerts in real time.</a:t>
            </a:r>
          </a:p>
        </p:txBody>
      </p:sp>
      <p:sp>
        <p:nvSpPr>
          <p:cNvPr id="8" name="Rectangle 3">
            <a:extLst>
              <a:ext uri="{FF2B5EF4-FFF2-40B4-BE49-F238E27FC236}">
                <a16:creationId xmlns:a16="http://schemas.microsoft.com/office/drawing/2014/main" id="{8954AC8D-9C21-2256-FADD-0BF801324A39}"/>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D906564C-BBAA-0D34-D7E6-A67FFCE423A4}"/>
              </a:ext>
            </a:extLst>
          </p:cNvPr>
          <p:cNvPicPr>
            <a:picLocks noChangeAspect="1"/>
          </p:cNvPicPr>
          <p:nvPr/>
        </p:nvPicPr>
        <p:blipFill>
          <a:blip r:embed="rId2"/>
          <a:stretch>
            <a:fillRect/>
          </a:stretch>
        </p:blipFill>
        <p:spPr>
          <a:xfrm>
            <a:off x="9627394" y="1321847"/>
            <a:ext cx="2176461" cy="4468755"/>
          </a:xfrm>
          <a:prstGeom prst="rect">
            <a:avLst/>
          </a:prstGeom>
        </p:spPr>
      </p:pic>
    </p:spTree>
    <p:extLst>
      <p:ext uri="{BB962C8B-B14F-4D97-AF65-F5344CB8AC3E}">
        <p14:creationId xmlns:p14="http://schemas.microsoft.com/office/powerpoint/2010/main" val="1758175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9F38D-1C75-9733-38FC-C4BF78FBD7B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9074C76-B866-7FC7-7F1C-8CFFB29CF468}"/>
              </a:ext>
            </a:extLst>
          </p:cNvPr>
          <p:cNvSpPr txBox="1"/>
          <p:nvPr/>
        </p:nvSpPr>
        <p:spPr>
          <a:xfrm>
            <a:off x="641382" y="228600"/>
            <a:ext cx="10418652" cy="553998"/>
          </a:xfrm>
          <a:prstGeom prst="rect">
            <a:avLst/>
          </a:prstGeom>
          <a:noFill/>
        </p:spPr>
        <p:txBody>
          <a:bodyPr wrap="square">
            <a:spAutoFit/>
          </a:bodyPr>
          <a:lstStyle/>
          <a:p>
            <a:r>
              <a:rPr lang="en-US" sz="3000" b="1" dirty="0">
                <a:solidFill>
                  <a:schemeClr val="accent1"/>
                </a:solidFill>
                <a:latin typeface="Garamond" panose="02020404030301010803" pitchFamily="18" charset="0"/>
              </a:rPr>
              <a:t>Cane Connect Mobile Application</a:t>
            </a:r>
            <a:endParaRPr lang="en-IN" sz="3000" b="1" dirty="0">
              <a:solidFill>
                <a:schemeClr val="accent1"/>
              </a:solidFill>
              <a:latin typeface="Garamond" panose="02020404030301010803" pitchFamily="18" charset="0"/>
            </a:endParaRPr>
          </a:p>
        </p:txBody>
      </p:sp>
      <p:sp>
        <p:nvSpPr>
          <p:cNvPr id="8" name="Rectangle 3">
            <a:extLst>
              <a:ext uri="{FF2B5EF4-FFF2-40B4-BE49-F238E27FC236}">
                <a16:creationId xmlns:a16="http://schemas.microsoft.com/office/drawing/2014/main" id="{A4BA891E-E7B7-6AEF-169B-041357370A09}"/>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C5426E1B-9EA4-4024-8E02-E91BB0B853B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33106" y="929463"/>
            <a:ext cx="6925787" cy="4851246"/>
          </a:xfrm>
          <a:prstGeom prst="rect">
            <a:avLst/>
          </a:prstGeom>
          <a:noFill/>
          <a:ln>
            <a:solidFill>
              <a:schemeClr val="tx1"/>
            </a:solidFill>
          </a:ln>
        </p:spPr>
      </p:pic>
      <p:sp>
        <p:nvSpPr>
          <p:cNvPr id="11" name="TextBox 10">
            <a:extLst>
              <a:ext uri="{FF2B5EF4-FFF2-40B4-BE49-F238E27FC236}">
                <a16:creationId xmlns:a16="http://schemas.microsoft.com/office/drawing/2014/main" id="{3D1BCFD7-B48B-475C-5FCF-C3A3E2E43D45}"/>
              </a:ext>
            </a:extLst>
          </p:cNvPr>
          <p:cNvSpPr txBox="1"/>
          <p:nvPr/>
        </p:nvSpPr>
        <p:spPr>
          <a:xfrm>
            <a:off x="3971925" y="5789074"/>
            <a:ext cx="6096000" cy="276999"/>
          </a:xfrm>
          <a:prstGeom prst="rect">
            <a:avLst/>
          </a:prstGeom>
          <a:noFill/>
        </p:spPr>
        <p:txBody>
          <a:bodyPr wrap="square">
            <a:spAutoFit/>
          </a:bodyPr>
          <a:lstStyle/>
          <a:p>
            <a:r>
              <a:rPr lang="en-US" sz="1200" b="1" dirty="0">
                <a:solidFill>
                  <a:srgbClr val="7030A0"/>
                </a:solidFill>
                <a:effectLst/>
                <a:latin typeface="Garamond" panose="02020404030301010803" pitchFamily="18" charset="0"/>
                <a:ea typeface="LM Roman 10"/>
              </a:rPr>
              <a:t>Flowchart illustrating the working of the mobile application</a:t>
            </a:r>
            <a:endParaRPr lang="en-IN" sz="1200" b="1" dirty="0">
              <a:solidFill>
                <a:srgbClr val="7030A0"/>
              </a:solidFill>
              <a:latin typeface="Garamond" panose="02020404030301010803" pitchFamily="18" charset="0"/>
            </a:endParaRPr>
          </a:p>
        </p:txBody>
      </p:sp>
    </p:spTree>
    <p:extLst>
      <p:ext uri="{BB962C8B-B14F-4D97-AF65-F5344CB8AC3E}">
        <p14:creationId xmlns:p14="http://schemas.microsoft.com/office/powerpoint/2010/main" val="3151217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E0FDB-E113-56EF-3684-718510CF3AB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AFA6A61-84B0-67C1-CA81-591A620CB558}"/>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Results</a:t>
            </a:r>
            <a:endParaRPr lang="en-IN" sz="3000" b="1" dirty="0"/>
          </a:p>
        </p:txBody>
      </p:sp>
      <p:sp>
        <p:nvSpPr>
          <p:cNvPr id="4" name="TextBox 3">
            <a:extLst>
              <a:ext uri="{FF2B5EF4-FFF2-40B4-BE49-F238E27FC236}">
                <a16:creationId xmlns:a16="http://schemas.microsoft.com/office/drawing/2014/main" id="{41488F71-12FD-107B-BDD1-ED6AB0A00FFE}"/>
              </a:ext>
            </a:extLst>
          </p:cNvPr>
          <p:cNvSpPr txBox="1"/>
          <p:nvPr/>
        </p:nvSpPr>
        <p:spPr>
          <a:xfrm>
            <a:off x="708057" y="1045014"/>
            <a:ext cx="4340193" cy="6414577"/>
          </a:xfrm>
          <a:prstGeom prst="rect">
            <a:avLst/>
          </a:prstGeom>
          <a:noFill/>
        </p:spPr>
        <p:txBody>
          <a:bodyPr wrap="square" rtlCol="0">
            <a:spAutoFit/>
          </a:bodyPr>
          <a:lstStyle/>
          <a:p>
            <a:pPr>
              <a:spcAft>
                <a:spcPts val="700"/>
              </a:spcAft>
            </a:pPr>
            <a:r>
              <a:rPr lang="en-IN" sz="2000" b="1" dirty="0">
                <a:solidFill>
                  <a:srgbClr val="7030A0"/>
                </a:solidFill>
                <a:latin typeface="Garamond" panose="02020404030301010803" pitchFamily="18" charset="0"/>
              </a:rPr>
              <a:t>Fall Detection</a:t>
            </a:r>
          </a:p>
          <a:p>
            <a:pPr marL="285750" marR="0" lvl="0" indent="-285750" algn="l"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Garamond" panose="02020404030301010803" pitchFamily="18" charset="0"/>
              </a:rPr>
              <a:t>The MPU6050 sensor continuously monitored acceleration and orientation, identifying fall events when sudden changes were detected.</a:t>
            </a:r>
          </a:p>
          <a:p>
            <a:pPr marL="285750" marR="0" lvl="0" indent="-285750" algn="l"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Garamond" panose="02020404030301010803" pitchFamily="18" charset="0"/>
              </a:rPr>
              <a:t>The system confirmed a fall by checking low gyroscope values and then updated the </a:t>
            </a:r>
            <a:r>
              <a:rPr kumimoji="0" lang="en-US" altLang="en-US" b="0" i="0" u="none" strike="noStrike" cap="none" normalizeH="0" baseline="0" dirty="0" err="1">
                <a:ln>
                  <a:noFill/>
                </a:ln>
                <a:solidFill>
                  <a:schemeClr val="tx1"/>
                </a:solidFill>
                <a:effectLst/>
                <a:latin typeface="Garamond" panose="02020404030301010803" pitchFamily="18" charset="0"/>
              </a:rPr>
              <a:t>fallDetected</a:t>
            </a:r>
            <a:r>
              <a:rPr kumimoji="0" lang="en-US" altLang="en-US" b="0" i="0" u="none" strike="noStrike" cap="none" normalizeH="0" baseline="0" dirty="0">
                <a:ln>
                  <a:noFill/>
                </a:ln>
                <a:solidFill>
                  <a:schemeClr val="tx1"/>
                </a:solidFill>
                <a:effectLst/>
                <a:latin typeface="Garamond" panose="02020404030301010803" pitchFamily="18" charset="0"/>
              </a:rPr>
              <a:t> flag on Firebase.</a:t>
            </a:r>
          </a:p>
          <a:p>
            <a:pPr marL="285750" marR="0" lvl="0" indent="-285750" algn="l"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Garamond" panose="02020404030301010803" pitchFamily="18" charset="0"/>
              </a:rPr>
              <a:t>The mobile app immediately displayed a high-priority notification to alert caregivers.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Garamond" panose="02020404030301010803" pitchFamily="18" charset="0"/>
              </a:rPr>
              <a:t>Recovery was detected when the cane returned to an upright position, automatically resetting the flag.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700" b="0" i="0" u="none" strike="noStrike" cap="none" normalizeH="0" baseline="0" dirty="0">
              <a:ln>
                <a:noFill/>
              </a:ln>
              <a:solidFill>
                <a:schemeClr val="tx1"/>
              </a:solidFill>
              <a:effectLst/>
              <a:latin typeface="Garamond" panose="02020404030301010803" pitchFamily="18" charset="0"/>
            </a:endParaRPr>
          </a:p>
          <a:p>
            <a:pPr lvl="0" defTabSz="914400" eaLnBrk="0" fontAlgn="base" hangingPunct="0">
              <a:spcBef>
                <a:spcPct val="0"/>
              </a:spcBef>
              <a:spcAft>
                <a:spcPct val="0"/>
              </a:spcAft>
            </a:pPr>
            <a:endParaRPr lang="en-US" altLang="en-US" b="1" dirty="0">
              <a:solidFill>
                <a:srgbClr val="7030A0"/>
              </a:solidFill>
              <a:latin typeface="Garamond" panose="02020404030301010803" pitchFamily="18" charset="0"/>
            </a:endParaRPr>
          </a:p>
          <a:p>
            <a:pPr lvl="0" defTabSz="914400" eaLnBrk="0" fontAlgn="base" hangingPunct="0">
              <a:spcBef>
                <a:spcPct val="0"/>
              </a:spcBef>
              <a:spcAft>
                <a:spcPct val="0"/>
              </a:spcAft>
            </a:pPr>
            <a:endParaRPr lang="en-US" altLang="en-US" b="1" dirty="0">
              <a:solidFill>
                <a:srgbClr val="7030A0"/>
              </a:solidFill>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1"/>
              </a:solidFill>
              <a:effectLst/>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1"/>
              </a:solidFill>
              <a:effectLst/>
              <a:latin typeface="Garamond" panose="02020404030301010803" pitchFamily="18" charset="0"/>
            </a:endParaRPr>
          </a:p>
          <a:p>
            <a:endParaRPr lang="en-IN" sz="1700" dirty="0">
              <a:effectLst/>
              <a:latin typeface="Garamond" panose="02020404030301010803" pitchFamily="18" charset="0"/>
              <a:ea typeface="Times New Roman" panose="02020603050405020304" pitchFamily="18" charset="0"/>
            </a:endParaRPr>
          </a:p>
          <a:p>
            <a:endParaRPr lang="en-IN" sz="1700" dirty="0"/>
          </a:p>
        </p:txBody>
      </p:sp>
      <p:sp>
        <p:nvSpPr>
          <p:cNvPr id="7" name="AutoShape 2">
            <a:extLst>
              <a:ext uri="{FF2B5EF4-FFF2-40B4-BE49-F238E27FC236}">
                <a16:creationId xmlns:a16="http://schemas.microsoft.com/office/drawing/2014/main" id="{426914B4-6413-6442-038B-E99490E89B7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11">
            <a:extLst>
              <a:ext uri="{FF2B5EF4-FFF2-40B4-BE49-F238E27FC236}">
                <a16:creationId xmlns:a16="http://schemas.microsoft.com/office/drawing/2014/main" id="{F32738BD-1874-948A-CCE6-E0BEC985F50C}"/>
              </a:ext>
            </a:extLst>
          </p:cNvPr>
          <p:cNvPicPr>
            <a:picLocks noChangeAspect="1"/>
          </p:cNvPicPr>
          <p:nvPr/>
        </p:nvPicPr>
        <p:blipFill>
          <a:blip r:embed="rId2"/>
          <a:stretch>
            <a:fillRect/>
          </a:stretch>
        </p:blipFill>
        <p:spPr>
          <a:xfrm>
            <a:off x="6599899" y="236139"/>
            <a:ext cx="4340193" cy="2339310"/>
          </a:xfrm>
          <a:prstGeom prst="rect">
            <a:avLst/>
          </a:prstGeom>
        </p:spPr>
      </p:pic>
      <p:pic>
        <p:nvPicPr>
          <p:cNvPr id="13" name="Picture 12">
            <a:extLst>
              <a:ext uri="{FF2B5EF4-FFF2-40B4-BE49-F238E27FC236}">
                <a16:creationId xmlns:a16="http://schemas.microsoft.com/office/drawing/2014/main" id="{4588333B-B3C0-5E1B-81B5-529BEBD1E039}"/>
              </a:ext>
            </a:extLst>
          </p:cNvPr>
          <p:cNvPicPr>
            <a:picLocks noChangeAspect="1"/>
          </p:cNvPicPr>
          <p:nvPr/>
        </p:nvPicPr>
        <p:blipFill>
          <a:blip r:embed="rId3"/>
          <a:stretch>
            <a:fillRect/>
          </a:stretch>
        </p:blipFill>
        <p:spPr>
          <a:xfrm>
            <a:off x="6883119" y="2709623"/>
            <a:ext cx="3773751" cy="1133954"/>
          </a:xfrm>
          <a:prstGeom prst="rect">
            <a:avLst/>
          </a:prstGeom>
        </p:spPr>
      </p:pic>
      <p:pic>
        <p:nvPicPr>
          <p:cNvPr id="14" name="Picture 13">
            <a:extLst>
              <a:ext uri="{FF2B5EF4-FFF2-40B4-BE49-F238E27FC236}">
                <a16:creationId xmlns:a16="http://schemas.microsoft.com/office/drawing/2014/main" id="{97B56BEA-1EA9-CF9F-ECC7-66CCF0B1D8C9}"/>
              </a:ext>
            </a:extLst>
          </p:cNvPr>
          <p:cNvPicPr>
            <a:picLocks noChangeAspect="1"/>
          </p:cNvPicPr>
          <p:nvPr/>
        </p:nvPicPr>
        <p:blipFill>
          <a:blip r:embed="rId4"/>
          <a:stretch>
            <a:fillRect/>
          </a:stretch>
        </p:blipFill>
        <p:spPr>
          <a:xfrm>
            <a:off x="7550688" y="3977751"/>
            <a:ext cx="2438611" cy="2225233"/>
          </a:xfrm>
          <a:prstGeom prst="rect">
            <a:avLst/>
          </a:prstGeom>
        </p:spPr>
      </p:pic>
    </p:spTree>
    <p:extLst>
      <p:ext uri="{BB962C8B-B14F-4D97-AF65-F5344CB8AC3E}">
        <p14:creationId xmlns:p14="http://schemas.microsoft.com/office/powerpoint/2010/main" val="563048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12CB2-F786-7463-8168-18B403368A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DD32D80-3F4E-0630-2281-B714875B0CF8}"/>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Results</a:t>
            </a:r>
            <a:endParaRPr lang="en-IN" sz="3000" b="1" dirty="0"/>
          </a:p>
        </p:txBody>
      </p:sp>
      <p:sp>
        <p:nvSpPr>
          <p:cNvPr id="4" name="TextBox 3">
            <a:extLst>
              <a:ext uri="{FF2B5EF4-FFF2-40B4-BE49-F238E27FC236}">
                <a16:creationId xmlns:a16="http://schemas.microsoft.com/office/drawing/2014/main" id="{5D0C8330-BAE2-2FBD-018E-0ADC0B6FF918}"/>
              </a:ext>
            </a:extLst>
          </p:cNvPr>
          <p:cNvSpPr txBox="1"/>
          <p:nvPr/>
        </p:nvSpPr>
        <p:spPr>
          <a:xfrm>
            <a:off x="708057" y="1045014"/>
            <a:ext cx="4340193" cy="6414577"/>
          </a:xfrm>
          <a:prstGeom prst="rect">
            <a:avLst/>
          </a:prstGeom>
          <a:noFill/>
        </p:spPr>
        <p:txBody>
          <a:bodyPr wrap="square" rtlCol="0">
            <a:spAutoFit/>
          </a:bodyPr>
          <a:lstStyle/>
          <a:p>
            <a:pPr>
              <a:spcAft>
                <a:spcPts val="700"/>
              </a:spcAft>
            </a:pPr>
            <a:r>
              <a:rPr lang="en-IN" sz="2000" b="1" dirty="0">
                <a:solidFill>
                  <a:srgbClr val="7030A0"/>
                </a:solidFill>
                <a:latin typeface="Garamond" panose="02020404030301010803" pitchFamily="18" charset="0"/>
              </a:rPr>
              <a:t>GPS and Location Tracking</a:t>
            </a:r>
          </a:p>
          <a:p>
            <a:pPr marL="285750" marR="0" lvl="0" indent="-285750" algn="l"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Garamond" panose="02020404030301010803" pitchFamily="18" charset="0"/>
              </a:rPr>
              <a:t>The NEO-6M GPS module provided continuous latitude and longitude data to the ESP32.</a:t>
            </a:r>
          </a:p>
          <a:p>
            <a:pPr marL="285750" marR="0" lvl="0" indent="-285750" algn="l"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Garamond" panose="02020404030301010803" pitchFamily="18" charset="0"/>
              </a:rPr>
              <a:t>Location data was parsed using the </a:t>
            </a:r>
            <a:r>
              <a:rPr kumimoji="0" lang="en-US" altLang="en-US" b="0" i="0" u="none" strike="noStrike" cap="none" normalizeH="0" baseline="0" dirty="0" err="1">
                <a:ln>
                  <a:noFill/>
                </a:ln>
                <a:solidFill>
                  <a:schemeClr val="tx1"/>
                </a:solidFill>
                <a:effectLst/>
                <a:latin typeface="Garamond" panose="02020404030301010803" pitchFamily="18" charset="0"/>
              </a:rPr>
              <a:t>TinyGPSPlus</a:t>
            </a:r>
            <a:r>
              <a:rPr kumimoji="0" lang="en-US" altLang="en-US" b="0" i="0" u="none" strike="noStrike" cap="none" normalizeH="0" baseline="0" dirty="0">
                <a:ln>
                  <a:noFill/>
                </a:ln>
                <a:solidFill>
                  <a:schemeClr val="tx1"/>
                </a:solidFill>
                <a:effectLst/>
                <a:latin typeface="Garamond" panose="02020404030301010803" pitchFamily="18" charset="0"/>
              </a:rPr>
              <a:t> library and uploaded to Firebase Realtime Database every few seconds.</a:t>
            </a:r>
          </a:p>
          <a:p>
            <a:pPr marL="285750" marR="0" lvl="0" indent="-285750" algn="l"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Garamond" panose="02020404030301010803" pitchFamily="18" charset="0"/>
              </a:rPr>
              <a:t>The mobile app displayed the cane’s real-time location using Google Maps API.</a:t>
            </a:r>
          </a:p>
          <a:p>
            <a:pPr marL="285750" marR="0" lvl="0" indent="-285750" algn="l"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Garamond" panose="02020404030301010803" pitchFamily="18" charset="0"/>
              </a:rPr>
              <a:t>Accurate position updates were observed during testing, with minimal delay.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700" b="0" i="0" u="none" strike="noStrike" cap="none" normalizeH="0" baseline="0" dirty="0">
              <a:ln>
                <a:noFill/>
              </a:ln>
              <a:solidFill>
                <a:schemeClr val="tx1"/>
              </a:solidFill>
              <a:effectLst/>
              <a:latin typeface="Garamond" panose="02020404030301010803" pitchFamily="18" charset="0"/>
            </a:endParaRPr>
          </a:p>
          <a:p>
            <a:pPr lvl="0" defTabSz="914400" eaLnBrk="0" fontAlgn="base" hangingPunct="0">
              <a:spcBef>
                <a:spcPct val="0"/>
              </a:spcBef>
              <a:spcAft>
                <a:spcPct val="0"/>
              </a:spcAft>
            </a:pPr>
            <a:endParaRPr lang="en-US" altLang="en-US" b="1" dirty="0">
              <a:solidFill>
                <a:srgbClr val="7030A0"/>
              </a:solidFill>
              <a:latin typeface="Garamond" panose="02020404030301010803" pitchFamily="18" charset="0"/>
            </a:endParaRPr>
          </a:p>
          <a:p>
            <a:pPr lvl="0" defTabSz="914400" eaLnBrk="0" fontAlgn="base" hangingPunct="0">
              <a:spcBef>
                <a:spcPct val="0"/>
              </a:spcBef>
              <a:spcAft>
                <a:spcPct val="0"/>
              </a:spcAft>
            </a:pPr>
            <a:endParaRPr lang="en-US" altLang="en-US" b="1" dirty="0">
              <a:solidFill>
                <a:srgbClr val="7030A0"/>
              </a:solidFill>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1"/>
              </a:solidFill>
              <a:effectLst/>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1"/>
              </a:solidFill>
              <a:effectLst/>
              <a:latin typeface="Garamond" panose="02020404030301010803" pitchFamily="18" charset="0"/>
            </a:endParaRPr>
          </a:p>
          <a:p>
            <a:endParaRPr lang="en-IN" sz="1700" dirty="0">
              <a:effectLst/>
              <a:latin typeface="Garamond" panose="02020404030301010803" pitchFamily="18" charset="0"/>
              <a:ea typeface="Times New Roman" panose="02020603050405020304" pitchFamily="18" charset="0"/>
            </a:endParaRPr>
          </a:p>
          <a:p>
            <a:endParaRPr lang="en-IN" sz="1700" dirty="0"/>
          </a:p>
        </p:txBody>
      </p:sp>
      <p:sp>
        <p:nvSpPr>
          <p:cNvPr id="7" name="AutoShape 2">
            <a:extLst>
              <a:ext uri="{FF2B5EF4-FFF2-40B4-BE49-F238E27FC236}">
                <a16:creationId xmlns:a16="http://schemas.microsoft.com/office/drawing/2014/main" id="{CF462EDC-E90B-845A-EF15-0E99FF9D6B1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19604BCE-5D51-8A4E-EF18-B7ACA00F36A2}"/>
              </a:ext>
            </a:extLst>
          </p:cNvPr>
          <p:cNvPicPr>
            <a:picLocks noChangeAspect="1"/>
          </p:cNvPicPr>
          <p:nvPr/>
        </p:nvPicPr>
        <p:blipFill>
          <a:blip r:embed="rId2"/>
          <a:stretch>
            <a:fillRect/>
          </a:stretch>
        </p:blipFill>
        <p:spPr>
          <a:xfrm>
            <a:off x="5917383" y="894688"/>
            <a:ext cx="2409825" cy="4763824"/>
          </a:xfrm>
          <a:prstGeom prst="rect">
            <a:avLst/>
          </a:prstGeom>
        </p:spPr>
      </p:pic>
      <p:pic>
        <p:nvPicPr>
          <p:cNvPr id="6" name="Picture 5">
            <a:extLst>
              <a:ext uri="{FF2B5EF4-FFF2-40B4-BE49-F238E27FC236}">
                <a16:creationId xmlns:a16="http://schemas.microsoft.com/office/drawing/2014/main" id="{2311C25D-CA6F-48B5-D005-8D0CC9D22B6D}"/>
              </a:ext>
            </a:extLst>
          </p:cNvPr>
          <p:cNvPicPr>
            <a:picLocks noChangeAspect="1"/>
          </p:cNvPicPr>
          <p:nvPr/>
        </p:nvPicPr>
        <p:blipFill>
          <a:blip r:embed="rId3"/>
          <a:stretch>
            <a:fillRect/>
          </a:stretch>
        </p:blipFill>
        <p:spPr>
          <a:xfrm>
            <a:off x="8759479" y="2669982"/>
            <a:ext cx="2121592" cy="1518036"/>
          </a:xfrm>
          <a:prstGeom prst="rect">
            <a:avLst/>
          </a:prstGeom>
        </p:spPr>
      </p:pic>
    </p:spTree>
    <p:extLst>
      <p:ext uri="{BB962C8B-B14F-4D97-AF65-F5344CB8AC3E}">
        <p14:creationId xmlns:p14="http://schemas.microsoft.com/office/powerpoint/2010/main" val="3826113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5188B-C626-F8F4-4AB2-F1FC91F16C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1D93189-ABF7-1939-EB6C-54B8FC4DCD0E}"/>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Results</a:t>
            </a:r>
            <a:endParaRPr lang="en-IN" sz="3000" b="1" dirty="0"/>
          </a:p>
        </p:txBody>
      </p:sp>
      <p:sp>
        <p:nvSpPr>
          <p:cNvPr id="4" name="TextBox 3">
            <a:extLst>
              <a:ext uri="{FF2B5EF4-FFF2-40B4-BE49-F238E27FC236}">
                <a16:creationId xmlns:a16="http://schemas.microsoft.com/office/drawing/2014/main" id="{C181DEDF-17B5-C99B-8AE9-D6B112A15163}"/>
              </a:ext>
            </a:extLst>
          </p:cNvPr>
          <p:cNvSpPr txBox="1"/>
          <p:nvPr/>
        </p:nvSpPr>
        <p:spPr>
          <a:xfrm>
            <a:off x="708057" y="1045014"/>
            <a:ext cx="3531149" cy="7217360"/>
          </a:xfrm>
          <a:prstGeom prst="rect">
            <a:avLst/>
          </a:prstGeom>
          <a:noFill/>
        </p:spPr>
        <p:txBody>
          <a:bodyPr wrap="square" rtlCol="0">
            <a:spAutoFit/>
          </a:bodyPr>
          <a:lstStyle/>
          <a:p>
            <a:pPr>
              <a:spcAft>
                <a:spcPts val="1200"/>
              </a:spcAft>
            </a:pPr>
            <a:r>
              <a:rPr lang="en-IN" sz="2000" b="1" dirty="0">
                <a:solidFill>
                  <a:srgbClr val="7030A0"/>
                </a:solidFill>
                <a:latin typeface="Garamond" panose="02020404030301010803" pitchFamily="18" charset="0"/>
              </a:rPr>
              <a:t>Turn-by-Turn Navigation</a:t>
            </a:r>
          </a:p>
          <a:p>
            <a:pPr marL="285750" marR="0" lvl="0" indent="-285750" algn="l"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Garamond" panose="02020404030301010803" pitchFamily="18" charset="0"/>
              </a:rPr>
              <a:t>Navigation instructions were generated using the Google Directions API in the mobile app.</a:t>
            </a:r>
          </a:p>
          <a:p>
            <a:pPr marL="285750" marR="0" lvl="0" indent="-285750" algn="l"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Garamond" panose="02020404030301010803" pitchFamily="18" charset="0"/>
              </a:rPr>
              <a:t>Each step (latitude, longitude, instruction, audio link) was uploaded to </a:t>
            </a:r>
            <a:r>
              <a:rPr kumimoji="0" lang="en-US" altLang="en-US" b="0" i="0" u="none" strike="noStrike" cap="none" normalizeH="0" baseline="0" dirty="0" err="1">
                <a:ln>
                  <a:noFill/>
                </a:ln>
                <a:solidFill>
                  <a:schemeClr val="tx1"/>
                </a:solidFill>
                <a:effectLst/>
                <a:latin typeface="Garamond" panose="02020404030301010803" pitchFamily="18" charset="0"/>
              </a:rPr>
              <a:t>Firestore</a:t>
            </a:r>
            <a:r>
              <a:rPr kumimoji="0" lang="en-US" altLang="en-US" b="0" i="0" u="none" strike="noStrike" cap="none" normalizeH="0" baseline="0" dirty="0">
                <a:ln>
                  <a:noFill/>
                </a:ln>
                <a:solidFill>
                  <a:schemeClr val="tx1"/>
                </a:solidFill>
                <a:effectLst/>
                <a:latin typeface="Garamond" panose="02020404030301010803" pitchFamily="18" charset="0"/>
              </a:rPr>
              <a:t> under RouteDetails.</a:t>
            </a:r>
          </a:p>
          <a:p>
            <a:pPr marL="285750" marR="0" lvl="0" indent="-285750" algn="l"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Garamond" panose="02020404030301010803" pitchFamily="18" charset="0"/>
              </a:rPr>
              <a:t>The ESP32 compared live GPS coordinates with step points and played the corresponding audio using the I2S DAC.</a:t>
            </a:r>
          </a:p>
          <a:p>
            <a:pPr marL="285750" marR="0" lvl="0" indent="-285750" algn="l"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Garamond" panose="02020404030301010803" pitchFamily="18" charset="0"/>
              </a:rPr>
              <a:t>Audio cues were triggered accurately at each navigation point during testing.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700" b="0" i="0" u="none" strike="noStrike" cap="none" normalizeH="0" baseline="0" dirty="0">
              <a:ln>
                <a:noFill/>
              </a:ln>
              <a:solidFill>
                <a:schemeClr val="tx1"/>
              </a:solidFill>
              <a:effectLst/>
              <a:latin typeface="Garamond" panose="02020404030301010803" pitchFamily="18" charset="0"/>
            </a:endParaRPr>
          </a:p>
          <a:p>
            <a:pPr lvl="0" defTabSz="914400" eaLnBrk="0" fontAlgn="base" hangingPunct="0">
              <a:spcBef>
                <a:spcPct val="0"/>
              </a:spcBef>
              <a:spcAft>
                <a:spcPct val="0"/>
              </a:spcAft>
            </a:pPr>
            <a:endParaRPr lang="en-US" altLang="en-US" b="1" dirty="0">
              <a:solidFill>
                <a:srgbClr val="7030A0"/>
              </a:solidFill>
              <a:latin typeface="Garamond" panose="02020404030301010803" pitchFamily="18" charset="0"/>
            </a:endParaRPr>
          </a:p>
          <a:p>
            <a:pPr lvl="0" defTabSz="914400" eaLnBrk="0" fontAlgn="base" hangingPunct="0">
              <a:spcBef>
                <a:spcPct val="0"/>
              </a:spcBef>
              <a:spcAft>
                <a:spcPct val="0"/>
              </a:spcAft>
            </a:pPr>
            <a:endParaRPr lang="en-US" altLang="en-US" b="1" dirty="0">
              <a:solidFill>
                <a:srgbClr val="7030A0"/>
              </a:solidFill>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1"/>
              </a:solidFill>
              <a:effectLst/>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1"/>
              </a:solidFill>
              <a:effectLst/>
              <a:latin typeface="Garamond" panose="02020404030301010803" pitchFamily="18" charset="0"/>
            </a:endParaRPr>
          </a:p>
          <a:p>
            <a:endParaRPr lang="en-IN" sz="1700" dirty="0">
              <a:effectLst/>
              <a:latin typeface="Garamond" panose="02020404030301010803" pitchFamily="18" charset="0"/>
              <a:ea typeface="Times New Roman" panose="02020603050405020304" pitchFamily="18" charset="0"/>
            </a:endParaRPr>
          </a:p>
          <a:p>
            <a:endParaRPr lang="en-IN" sz="1700" dirty="0"/>
          </a:p>
        </p:txBody>
      </p:sp>
      <p:sp>
        <p:nvSpPr>
          <p:cNvPr id="7" name="AutoShape 2">
            <a:extLst>
              <a:ext uri="{FF2B5EF4-FFF2-40B4-BE49-F238E27FC236}">
                <a16:creationId xmlns:a16="http://schemas.microsoft.com/office/drawing/2014/main" id="{5E81D32C-2FEF-140F-4148-80A6BB364EC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2EB8D6C5-1F7D-57E8-069F-ECFFF199A529}"/>
              </a:ext>
            </a:extLst>
          </p:cNvPr>
          <p:cNvPicPr>
            <a:picLocks noChangeAspect="1"/>
          </p:cNvPicPr>
          <p:nvPr/>
        </p:nvPicPr>
        <p:blipFill>
          <a:blip r:embed="rId4"/>
          <a:stretch>
            <a:fillRect/>
          </a:stretch>
        </p:blipFill>
        <p:spPr>
          <a:xfrm>
            <a:off x="7954342" y="4052343"/>
            <a:ext cx="3709221" cy="1900848"/>
          </a:xfrm>
          <a:prstGeom prst="rect">
            <a:avLst/>
          </a:prstGeom>
        </p:spPr>
      </p:pic>
      <p:pic>
        <p:nvPicPr>
          <p:cNvPr id="9" name="Picture 8">
            <a:extLst>
              <a:ext uri="{FF2B5EF4-FFF2-40B4-BE49-F238E27FC236}">
                <a16:creationId xmlns:a16="http://schemas.microsoft.com/office/drawing/2014/main" id="{193DBEFF-D269-8D61-B057-3ADF052B5CD2}"/>
              </a:ext>
            </a:extLst>
          </p:cNvPr>
          <p:cNvPicPr>
            <a:picLocks noChangeAspect="1"/>
          </p:cNvPicPr>
          <p:nvPr/>
        </p:nvPicPr>
        <p:blipFill>
          <a:blip r:embed="rId5"/>
          <a:stretch>
            <a:fillRect/>
          </a:stretch>
        </p:blipFill>
        <p:spPr>
          <a:xfrm>
            <a:off x="7872146" y="134765"/>
            <a:ext cx="1700479" cy="3567438"/>
          </a:xfrm>
          <a:prstGeom prst="rect">
            <a:avLst/>
          </a:prstGeom>
        </p:spPr>
      </p:pic>
      <p:pic>
        <p:nvPicPr>
          <p:cNvPr id="10" name="Picture 9">
            <a:extLst>
              <a:ext uri="{FF2B5EF4-FFF2-40B4-BE49-F238E27FC236}">
                <a16:creationId xmlns:a16="http://schemas.microsoft.com/office/drawing/2014/main" id="{FBC812AA-069C-0D3A-E9D2-437D0F0DF08E}"/>
              </a:ext>
            </a:extLst>
          </p:cNvPr>
          <p:cNvPicPr>
            <a:picLocks noChangeAspect="1"/>
          </p:cNvPicPr>
          <p:nvPr/>
        </p:nvPicPr>
        <p:blipFill>
          <a:blip r:embed="rId6"/>
          <a:stretch>
            <a:fillRect/>
          </a:stretch>
        </p:blipFill>
        <p:spPr>
          <a:xfrm>
            <a:off x="9808953" y="107991"/>
            <a:ext cx="2162518" cy="3594212"/>
          </a:xfrm>
          <a:prstGeom prst="rect">
            <a:avLst/>
          </a:prstGeom>
        </p:spPr>
      </p:pic>
      <p:pic>
        <p:nvPicPr>
          <p:cNvPr id="11" name="a41e8678-01e9-4c2c-b612-fc504f735009">
            <a:hlinkClick r:id="" action="ppaction://media"/>
            <a:extLst>
              <a:ext uri="{FF2B5EF4-FFF2-40B4-BE49-F238E27FC236}">
                <a16:creationId xmlns:a16="http://schemas.microsoft.com/office/drawing/2014/main" id="{97362B4D-2F2E-9BE7-7DF8-D1E3B2C2E9E2}"/>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812538" y="1100137"/>
            <a:ext cx="2618892" cy="4657725"/>
          </a:xfrm>
          <a:prstGeom prst="rect">
            <a:avLst/>
          </a:prstGeom>
        </p:spPr>
      </p:pic>
    </p:spTree>
    <p:extLst>
      <p:ext uri="{BB962C8B-B14F-4D97-AF65-F5344CB8AC3E}">
        <p14:creationId xmlns:p14="http://schemas.microsoft.com/office/powerpoint/2010/main" val="3265537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4515"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5A699-0F30-6571-A973-90912FC6E6B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7CA1E05-C33F-1AC8-70E7-A27F40082B07}"/>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Results</a:t>
            </a:r>
            <a:endParaRPr lang="en-IN" sz="3000" b="1" dirty="0"/>
          </a:p>
        </p:txBody>
      </p:sp>
      <p:sp>
        <p:nvSpPr>
          <p:cNvPr id="4" name="TextBox 3">
            <a:extLst>
              <a:ext uri="{FF2B5EF4-FFF2-40B4-BE49-F238E27FC236}">
                <a16:creationId xmlns:a16="http://schemas.microsoft.com/office/drawing/2014/main" id="{8A1BD03C-CB28-578F-0196-629528CF8CA6}"/>
              </a:ext>
            </a:extLst>
          </p:cNvPr>
          <p:cNvSpPr txBox="1"/>
          <p:nvPr/>
        </p:nvSpPr>
        <p:spPr>
          <a:xfrm>
            <a:off x="708057" y="1045014"/>
            <a:ext cx="5673693" cy="6817251"/>
          </a:xfrm>
          <a:prstGeom prst="rect">
            <a:avLst/>
          </a:prstGeom>
          <a:noFill/>
        </p:spPr>
        <p:txBody>
          <a:bodyPr wrap="square" rtlCol="0">
            <a:spAutoFit/>
          </a:bodyPr>
          <a:lstStyle/>
          <a:p>
            <a:pPr>
              <a:spcAft>
                <a:spcPts val="1200"/>
              </a:spcAft>
            </a:pPr>
            <a:r>
              <a:rPr lang="en-US" sz="2000" b="1" dirty="0">
                <a:solidFill>
                  <a:srgbClr val="7030A0"/>
                </a:solidFill>
                <a:latin typeface="Garamond" panose="02020404030301010803" pitchFamily="18" charset="0"/>
              </a:rPr>
              <a:t>Obstacle Detection and Audio Feedback</a:t>
            </a:r>
          </a:p>
          <a:p>
            <a:pPr marL="285750" indent="-285750">
              <a:spcAft>
                <a:spcPts val="120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Garamond" panose="02020404030301010803" pitchFamily="18" charset="0"/>
              </a:rPr>
              <a:t>Ultrasonic sensors on the front, left, and right continuously monitored for obstacles.</a:t>
            </a:r>
          </a:p>
          <a:p>
            <a:pPr marL="285750" indent="-285750">
              <a:spcAft>
                <a:spcPts val="120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Garamond" panose="02020404030301010803" pitchFamily="18" charset="0"/>
              </a:rPr>
              <a:t>When an object was detected within the 5–100 cm range, the ESP32 activated the vibration motor for haptic feedback.</a:t>
            </a:r>
          </a:p>
          <a:p>
            <a:pPr marL="285750" indent="-285750">
              <a:spcAft>
                <a:spcPts val="120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Garamond" panose="02020404030301010803" pitchFamily="18" charset="0"/>
              </a:rPr>
              <a:t>The obstacle detection was responsive and directional during real-world tests.</a:t>
            </a:r>
          </a:p>
          <a:p>
            <a:pPr marL="285750" indent="-285750">
              <a:spcAft>
                <a:spcPts val="120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Garamond" panose="02020404030301010803" pitchFamily="18" charset="0"/>
              </a:rPr>
              <a:t>For navigation, audio files were fetched from Firebase Storage and played using the MAX98357A I2S DAC and speaker.</a:t>
            </a:r>
          </a:p>
          <a:p>
            <a:pPr marL="285750" indent="-285750">
              <a:spcAft>
                <a:spcPts val="120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Garamond" panose="02020404030301010803" pitchFamily="18" charset="0"/>
              </a:rPr>
              <a:t>The audio feedback was clear and triggered at the correct GPS locations.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700" b="0" i="0" u="none" strike="noStrike" cap="none" normalizeH="0" baseline="0" dirty="0">
              <a:ln>
                <a:noFill/>
              </a:ln>
              <a:solidFill>
                <a:schemeClr val="tx1"/>
              </a:solidFill>
              <a:effectLst/>
              <a:latin typeface="Garamond" panose="02020404030301010803" pitchFamily="18" charset="0"/>
            </a:endParaRPr>
          </a:p>
          <a:p>
            <a:pPr lvl="0" defTabSz="914400" eaLnBrk="0" fontAlgn="base" hangingPunct="0">
              <a:spcBef>
                <a:spcPct val="0"/>
              </a:spcBef>
              <a:spcAft>
                <a:spcPct val="0"/>
              </a:spcAft>
            </a:pPr>
            <a:endParaRPr lang="en-US" altLang="en-US" b="1" dirty="0">
              <a:solidFill>
                <a:srgbClr val="7030A0"/>
              </a:solidFill>
              <a:latin typeface="Garamond" panose="02020404030301010803" pitchFamily="18" charset="0"/>
            </a:endParaRPr>
          </a:p>
          <a:p>
            <a:pPr lvl="0" defTabSz="914400" eaLnBrk="0" fontAlgn="base" hangingPunct="0">
              <a:spcBef>
                <a:spcPct val="0"/>
              </a:spcBef>
              <a:spcAft>
                <a:spcPct val="0"/>
              </a:spcAft>
            </a:pPr>
            <a:endParaRPr lang="en-US" altLang="en-US" b="1" dirty="0">
              <a:solidFill>
                <a:srgbClr val="7030A0"/>
              </a:solidFill>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1"/>
              </a:solidFill>
              <a:effectLst/>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1"/>
              </a:solidFill>
              <a:effectLst/>
              <a:latin typeface="Garamond" panose="02020404030301010803" pitchFamily="18" charset="0"/>
            </a:endParaRPr>
          </a:p>
          <a:p>
            <a:endParaRPr lang="en-IN" sz="1700" dirty="0">
              <a:effectLst/>
              <a:latin typeface="Garamond" panose="02020404030301010803" pitchFamily="18" charset="0"/>
              <a:ea typeface="Times New Roman" panose="02020603050405020304" pitchFamily="18" charset="0"/>
            </a:endParaRPr>
          </a:p>
          <a:p>
            <a:endParaRPr lang="en-IN" sz="1700" dirty="0"/>
          </a:p>
        </p:txBody>
      </p:sp>
      <p:sp>
        <p:nvSpPr>
          <p:cNvPr id="7" name="AutoShape 2">
            <a:extLst>
              <a:ext uri="{FF2B5EF4-FFF2-40B4-BE49-F238E27FC236}">
                <a16:creationId xmlns:a16="http://schemas.microsoft.com/office/drawing/2014/main" id="{2C2B0F83-7C12-A65D-ABB5-2E249994753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 name="Picture 1">
            <a:extLst>
              <a:ext uri="{FF2B5EF4-FFF2-40B4-BE49-F238E27FC236}">
                <a16:creationId xmlns:a16="http://schemas.microsoft.com/office/drawing/2014/main" id="{E97725B0-412D-2321-27E1-C6817DF89459}"/>
              </a:ext>
            </a:extLst>
          </p:cNvPr>
          <p:cNvPicPr>
            <a:picLocks noChangeAspect="1"/>
          </p:cNvPicPr>
          <p:nvPr/>
        </p:nvPicPr>
        <p:blipFill>
          <a:blip r:embed="rId2"/>
          <a:stretch>
            <a:fillRect/>
          </a:stretch>
        </p:blipFill>
        <p:spPr>
          <a:xfrm>
            <a:off x="8198121" y="735130"/>
            <a:ext cx="2566638" cy="2481287"/>
          </a:xfrm>
          <a:prstGeom prst="rect">
            <a:avLst/>
          </a:prstGeom>
        </p:spPr>
      </p:pic>
      <p:pic>
        <p:nvPicPr>
          <p:cNvPr id="5" name="Picture 4">
            <a:extLst>
              <a:ext uri="{FF2B5EF4-FFF2-40B4-BE49-F238E27FC236}">
                <a16:creationId xmlns:a16="http://schemas.microsoft.com/office/drawing/2014/main" id="{FC03E8D8-F2C3-3CE4-9D41-BB35E78A0D44}"/>
              </a:ext>
            </a:extLst>
          </p:cNvPr>
          <p:cNvPicPr>
            <a:picLocks noChangeAspect="1"/>
          </p:cNvPicPr>
          <p:nvPr/>
        </p:nvPicPr>
        <p:blipFill>
          <a:blip r:embed="rId3"/>
          <a:stretch>
            <a:fillRect/>
          </a:stretch>
        </p:blipFill>
        <p:spPr>
          <a:xfrm>
            <a:off x="8198121" y="3581400"/>
            <a:ext cx="2591025" cy="2487384"/>
          </a:xfrm>
          <a:prstGeom prst="rect">
            <a:avLst/>
          </a:prstGeom>
        </p:spPr>
      </p:pic>
    </p:spTree>
    <p:extLst>
      <p:ext uri="{BB962C8B-B14F-4D97-AF65-F5344CB8AC3E}">
        <p14:creationId xmlns:p14="http://schemas.microsoft.com/office/powerpoint/2010/main" val="25435958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28392-AA1D-DCAE-3CDB-825D0DA715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E6B1E5C-1D28-5629-C331-CB75592EB39B}"/>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Results</a:t>
            </a:r>
            <a:endParaRPr lang="en-IN" sz="3000" b="1" dirty="0"/>
          </a:p>
        </p:txBody>
      </p:sp>
      <p:sp>
        <p:nvSpPr>
          <p:cNvPr id="4" name="TextBox 3">
            <a:extLst>
              <a:ext uri="{FF2B5EF4-FFF2-40B4-BE49-F238E27FC236}">
                <a16:creationId xmlns:a16="http://schemas.microsoft.com/office/drawing/2014/main" id="{3949C219-F937-22F2-1119-BFDF3856E175}"/>
              </a:ext>
            </a:extLst>
          </p:cNvPr>
          <p:cNvSpPr txBox="1"/>
          <p:nvPr/>
        </p:nvSpPr>
        <p:spPr>
          <a:xfrm>
            <a:off x="708058" y="1045014"/>
            <a:ext cx="4635468" cy="6386364"/>
          </a:xfrm>
          <a:prstGeom prst="rect">
            <a:avLst/>
          </a:prstGeom>
          <a:noFill/>
        </p:spPr>
        <p:txBody>
          <a:bodyPr wrap="square" rtlCol="0">
            <a:spAutoFit/>
          </a:bodyPr>
          <a:lstStyle/>
          <a:p>
            <a:pPr>
              <a:spcAft>
                <a:spcPts val="1200"/>
              </a:spcAft>
            </a:pPr>
            <a:r>
              <a:rPr lang="en-US" sz="2000" b="1" dirty="0">
                <a:solidFill>
                  <a:srgbClr val="7030A0"/>
                </a:solidFill>
                <a:latin typeface="Garamond" panose="02020404030301010803" pitchFamily="18" charset="0"/>
              </a:rPr>
              <a:t>Firebase Integration Results</a:t>
            </a:r>
          </a:p>
          <a:p>
            <a:pPr marL="285750" indent="-285750">
              <a:spcAft>
                <a:spcPts val="120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Garamond" panose="02020404030301010803" pitchFamily="18" charset="0"/>
              </a:rPr>
              <a:t>Firebase Realtime Database was used to sync GPS coordinates, fall status, and system flags in real time.</a:t>
            </a:r>
          </a:p>
          <a:p>
            <a:pPr marL="285750" indent="-285750">
              <a:spcAft>
                <a:spcPts val="1200"/>
              </a:spcAft>
              <a:buFont typeface="Arial" panose="020B0604020202020204" pitchFamily="34" charset="0"/>
              <a:buChar char="•"/>
            </a:pPr>
            <a:r>
              <a:rPr kumimoji="0" lang="en-US" altLang="en-US" b="0" i="0" u="none" strike="noStrike" cap="none" normalizeH="0" baseline="0" dirty="0" err="1">
                <a:ln>
                  <a:noFill/>
                </a:ln>
                <a:solidFill>
                  <a:schemeClr val="tx1"/>
                </a:solidFill>
                <a:effectLst/>
                <a:latin typeface="Garamond" panose="02020404030301010803" pitchFamily="18" charset="0"/>
              </a:rPr>
              <a:t>Firestore</a:t>
            </a:r>
            <a:r>
              <a:rPr kumimoji="0" lang="en-US" altLang="en-US" b="0" i="0" u="none" strike="noStrike" cap="none" normalizeH="0" baseline="0" dirty="0">
                <a:ln>
                  <a:noFill/>
                </a:ln>
                <a:solidFill>
                  <a:schemeClr val="tx1"/>
                </a:solidFill>
                <a:effectLst/>
                <a:latin typeface="Garamond" panose="02020404030301010803" pitchFamily="18" charset="0"/>
              </a:rPr>
              <a:t> stored structured navigation steps including audio links for each waypoint.</a:t>
            </a:r>
          </a:p>
          <a:p>
            <a:pPr marL="285750" indent="-285750">
              <a:spcAft>
                <a:spcPts val="120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Garamond" panose="02020404030301010803" pitchFamily="18" charset="0"/>
              </a:rPr>
              <a:t>Firebase Storage hosted WAV audio files, which were accessed by the Smart Cane during navigation.</a:t>
            </a:r>
          </a:p>
          <a:p>
            <a:pPr marL="285750" indent="-285750">
              <a:spcAft>
                <a:spcPts val="120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Garamond" panose="02020404030301010803" pitchFamily="18" charset="0"/>
              </a:rPr>
              <a:t>The app and ESP32 communicated seamlessly with Firebase, ensuring synchronized data flow.</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700" b="0" i="0" u="none" strike="noStrike" cap="none" normalizeH="0" baseline="0" dirty="0">
              <a:ln>
                <a:noFill/>
              </a:ln>
              <a:solidFill>
                <a:schemeClr val="tx1"/>
              </a:solidFill>
              <a:effectLst/>
              <a:latin typeface="Garamond" panose="02020404030301010803" pitchFamily="18" charset="0"/>
            </a:endParaRPr>
          </a:p>
          <a:p>
            <a:pPr lvl="0" defTabSz="914400" eaLnBrk="0" fontAlgn="base" hangingPunct="0">
              <a:spcBef>
                <a:spcPct val="0"/>
              </a:spcBef>
              <a:spcAft>
                <a:spcPct val="0"/>
              </a:spcAft>
            </a:pPr>
            <a:endParaRPr lang="en-US" altLang="en-US" b="1" dirty="0">
              <a:solidFill>
                <a:srgbClr val="7030A0"/>
              </a:solidFill>
              <a:latin typeface="Garamond" panose="02020404030301010803" pitchFamily="18" charset="0"/>
            </a:endParaRPr>
          </a:p>
          <a:p>
            <a:pPr lvl="0" defTabSz="914400" eaLnBrk="0" fontAlgn="base" hangingPunct="0">
              <a:spcBef>
                <a:spcPct val="0"/>
              </a:spcBef>
              <a:spcAft>
                <a:spcPct val="0"/>
              </a:spcAft>
            </a:pPr>
            <a:endParaRPr lang="en-US" altLang="en-US" b="1" dirty="0">
              <a:solidFill>
                <a:srgbClr val="7030A0"/>
              </a:solidFill>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1"/>
              </a:solidFill>
              <a:effectLst/>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1"/>
              </a:solidFill>
              <a:effectLst/>
              <a:latin typeface="Garamond" panose="02020404030301010803" pitchFamily="18" charset="0"/>
            </a:endParaRPr>
          </a:p>
          <a:p>
            <a:endParaRPr lang="en-IN" sz="1700" dirty="0">
              <a:effectLst/>
              <a:latin typeface="Garamond" panose="02020404030301010803" pitchFamily="18" charset="0"/>
              <a:ea typeface="Times New Roman" panose="02020603050405020304" pitchFamily="18" charset="0"/>
            </a:endParaRPr>
          </a:p>
          <a:p>
            <a:endParaRPr lang="en-IN" sz="1700" dirty="0"/>
          </a:p>
        </p:txBody>
      </p:sp>
      <p:sp>
        <p:nvSpPr>
          <p:cNvPr id="7" name="AutoShape 2">
            <a:extLst>
              <a:ext uri="{FF2B5EF4-FFF2-40B4-BE49-F238E27FC236}">
                <a16:creationId xmlns:a16="http://schemas.microsoft.com/office/drawing/2014/main" id="{3B937897-86D2-2146-8137-03BB13C848D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E4BCF7B3-68C0-B8EC-FC61-68646C829BBC}"/>
              </a:ext>
            </a:extLst>
          </p:cNvPr>
          <p:cNvPicPr>
            <a:picLocks noChangeAspect="1"/>
          </p:cNvPicPr>
          <p:nvPr/>
        </p:nvPicPr>
        <p:blipFill>
          <a:blip r:embed="rId2"/>
          <a:stretch>
            <a:fillRect/>
          </a:stretch>
        </p:blipFill>
        <p:spPr>
          <a:xfrm>
            <a:off x="9813193" y="353355"/>
            <a:ext cx="2249351" cy="3075643"/>
          </a:xfrm>
          <a:prstGeom prst="rect">
            <a:avLst/>
          </a:prstGeom>
        </p:spPr>
      </p:pic>
      <p:pic>
        <p:nvPicPr>
          <p:cNvPr id="9" name="Picture 8">
            <a:extLst>
              <a:ext uri="{FF2B5EF4-FFF2-40B4-BE49-F238E27FC236}">
                <a16:creationId xmlns:a16="http://schemas.microsoft.com/office/drawing/2014/main" id="{3498D3D8-473E-24D3-C133-2DE8655C6C8E}"/>
              </a:ext>
            </a:extLst>
          </p:cNvPr>
          <p:cNvPicPr>
            <a:picLocks noChangeAspect="1"/>
          </p:cNvPicPr>
          <p:nvPr/>
        </p:nvPicPr>
        <p:blipFill>
          <a:blip r:embed="rId3"/>
          <a:stretch>
            <a:fillRect/>
          </a:stretch>
        </p:blipFill>
        <p:spPr>
          <a:xfrm>
            <a:off x="6167905" y="286578"/>
            <a:ext cx="3353572" cy="3142421"/>
          </a:xfrm>
          <a:prstGeom prst="rect">
            <a:avLst/>
          </a:prstGeom>
        </p:spPr>
      </p:pic>
      <p:pic>
        <p:nvPicPr>
          <p:cNvPr id="10" name="Picture 9">
            <a:extLst>
              <a:ext uri="{FF2B5EF4-FFF2-40B4-BE49-F238E27FC236}">
                <a16:creationId xmlns:a16="http://schemas.microsoft.com/office/drawing/2014/main" id="{25A6B6D7-0A8B-2EF9-688B-1E4CCE813686}"/>
              </a:ext>
            </a:extLst>
          </p:cNvPr>
          <p:cNvPicPr>
            <a:picLocks noChangeAspect="1"/>
          </p:cNvPicPr>
          <p:nvPr/>
        </p:nvPicPr>
        <p:blipFill>
          <a:blip r:embed="rId4"/>
          <a:stretch>
            <a:fillRect/>
          </a:stretch>
        </p:blipFill>
        <p:spPr>
          <a:xfrm>
            <a:off x="8113152" y="3702077"/>
            <a:ext cx="2542252" cy="2292295"/>
          </a:xfrm>
          <a:prstGeom prst="rect">
            <a:avLst/>
          </a:prstGeom>
        </p:spPr>
      </p:pic>
    </p:spTree>
    <p:extLst>
      <p:ext uri="{BB962C8B-B14F-4D97-AF65-F5344CB8AC3E}">
        <p14:creationId xmlns:p14="http://schemas.microsoft.com/office/powerpoint/2010/main" val="1753589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34081-5A54-50B1-8679-063212FCF67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A7576B2-E326-DABD-13F9-A5F927A52A47}"/>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Results</a:t>
            </a:r>
            <a:endParaRPr lang="en-IN" sz="3000" b="1" dirty="0"/>
          </a:p>
        </p:txBody>
      </p:sp>
      <p:sp>
        <p:nvSpPr>
          <p:cNvPr id="4" name="TextBox 3">
            <a:extLst>
              <a:ext uri="{FF2B5EF4-FFF2-40B4-BE49-F238E27FC236}">
                <a16:creationId xmlns:a16="http://schemas.microsoft.com/office/drawing/2014/main" id="{1FCEBE89-2EDB-3FDC-5A45-D81C65B9BBFA}"/>
              </a:ext>
            </a:extLst>
          </p:cNvPr>
          <p:cNvSpPr txBox="1"/>
          <p:nvPr/>
        </p:nvSpPr>
        <p:spPr>
          <a:xfrm>
            <a:off x="708058" y="1045014"/>
            <a:ext cx="4635468" cy="2723823"/>
          </a:xfrm>
          <a:prstGeom prst="rect">
            <a:avLst/>
          </a:prstGeom>
          <a:noFill/>
        </p:spPr>
        <p:txBody>
          <a:bodyPr wrap="square" rtlCol="0">
            <a:spAutoFit/>
          </a:bodyPr>
          <a:lstStyle/>
          <a:p>
            <a:pPr>
              <a:spcAft>
                <a:spcPts val="1200"/>
              </a:spcAft>
            </a:pPr>
            <a:r>
              <a:rPr lang="en-US" sz="2000" b="1" dirty="0">
                <a:solidFill>
                  <a:srgbClr val="7030A0"/>
                </a:solidFill>
                <a:latin typeface="Garamond" panose="02020404030301010803" pitchFamily="18" charset="0"/>
              </a:rPr>
              <a:t>Firebase Integration Results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700" b="0" i="0" u="none" strike="noStrike" cap="none" normalizeH="0" baseline="0" dirty="0">
              <a:ln>
                <a:noFill/>
              </a:ln>
              <a:solidFill>
                <a:schemeClr val="tx1"/>
              </a:solidFill>
              <a:effectLst/>
              <a:latin typeface="Garamond" panose="02020404030301010803" pitchFamily="18" charset="0"/>
            </a:endParaRPr>
          </a:p>
          <a:p>
            <a:pPr lvl="0" defTabSz="914400" eaLnBrk="0" fontAlgn="base" hangingPunct="0">
              <a:spcBef>
                <a:spcPct val="0"/>
              </a:spcBef>
              <a:spcAft>
                <a:spcPct val="0"/>
              </a:spcAft>
            </a:pPr>
            <a:endParaRPr lang="en-US" altLang="en-US" b="1" dirty="0">
              <a:solidFill>
                <a:srgbClr val="7030A0"/>
              </a:solidFill>
              <a:latin typeface="Garamond" panose="02020404030301010803" pitchFamily="18" charset="0"/>
            </a:endParaRPr>
          </a:p>
          <a:p>
            <a:pPr lvl="0" defTabSz="914400" eaLnBrk="0" fontAlgn="base" hangingPunct="0">
              <a:spcBef>
                <a:spcPct val="0"/>
              </a:spcBef>
              <a:spcAft>
                <a:spcPct val="0"/>
              </a:spcAft>
            </a:pPr>
            <a:endParaRPr lang="en-US" altLang="en-US" b="1" dirty="0">
              <a:solidFill>
                <a:srgbClr val="7030A0"/>
              </a:solidFill>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1"/>
              </a:solidFill>
              <a:effectLst/>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1"/>
              </a:solidFill>
              <a:effectLst/>
              <a:latin typeface="Garamond" panose="02020404030301010803" pitchFamily="18" charset="0"/>
            </a:endParaRPr>
          </a:p>
          <a:p>
            <a:endParaRPr lang="en-IN" sz="1700" dirty="0">
              <a:effectLst/>
              <a:latin typeface="Garamond" panose="02020404030301010803" pitchFamily="18" charset="0"/>
              <a:ea typeface="Times New Roman" panose="02020603050405020304" pitchFamily="18" charset="0"/>
            </a:endParaRPr>
          </a:p>
          <a:p>
            <a:endParaRPr lang="en-IN" sz="1700" dirty="0"/>
          </a:p>
        </p:txBody>
      </p:sp>
      <p:sp>
        <p:nvSpPr>
          <p:cNvPr id="7" name="AutoShape 2">
            <a:extLst>
              <a:ext uri="{FF2B5EF4-FFF2-40B4-BE49-F238E27FC236}">
                <a16:creationId xmlns:a16="http://schemas.microsoft.com/office/drawing/2014/main" id="{DFDFC8DC-B317-A837-4286-9B705D05C61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 name="Picture 1">
            <a:extLst>
              <a:ext uri="{FF2B5EF4-FFF2-40B4-BE49-F238E27FC236}">
                <a16:creationId xmlns:a16="http://schemas.microsoft.com/office/drawing/2014/main" id="{95AF089E-FD84-872E-DA0E-D920DAD47030}"/>
              </a:ext>
            </a:extLst>
          </p:cNvPr>
          <p:cNvPicPr>
            <a:picLocks noChangeAspect="1"/>
          </p:cNvPicPr>
          <p:nvPr/>
        </p:nvPicPr>
        <p:blipFill>
          <a:blip r:embed="rId2"/>
          <a:stretch>
            <a:fillRect/>
          </a:stretch>
        </p:blipFill>
        <p:spPr>
          <a:xfrm>
            <a:off x="2647131" y="1487262"/>
            <a:ext cx="6592937" cy="4563149"/>
          </a:xfrm>
          <a:prstGeom prst="rect">
            <a:avLst/>
          </a:prstGeom>
        </p:spPr>
      </p:pic>
      <p:sp>
        <p:nvSpPr>
          <p:cNvPr id="6" name="TextBox 5">
            <a:extLst>
              <a:ext uri="{FF2B5EF4-FFF2-40B4-BE49-F238E27FC236}">
                <a16:creationId xmlns:a16="http://schemas.microsoft.com/office/drawing/2014/main" id="{FCAE4681-A046-44AB-C646-14B7F725055D}"/>
              </a:ext>
            </a:extLst>
          </p:cNvPr>
          <p:cNvSpPr txBox="1"/>
          <p:nvPr/>
        </p:nvSpPr>
        <p:spPr>
          <a:xfrm>
            <a:off x="9324975" y="3584170"/>
            <a:ext cx="6096000" cy="369332"/>
          </a:xfrm>
          <a:prstGeom prst="rect">
            <a:avLst/>
          </a:prstGeom>
          <a:noFill/>
        </p:spPr>
        <p:txBody>
          <a:bodyPr wrap="square">
            <a:spAutoFit/>
          </a:bodyPr>
          <a:lstStyle/>
          <a:p>
            <a:r>
              <a:rPr lang="en-IN" b="1" dirty="0" err="1">
                <a:latin typeface="Garamond" panose="02020404030301010803" pitchFamily="18" charset="0"/>
              </a:rPr>
              <a:t>Firestore</a:t>
            </a:r>
            <a:r>
              <a:rPr lang="en-IN" b="1" dirty="0">
                <a:latin typeface="Garamond" panose="02020404030301010803" pitchFamily="18" charset="0"/>
              </a:rPr>
              <a:t> DB structure</a:t>
            </a:r>
          </a:p>
        </p:txBody>
      </p:sp>
    </p:spTree>
    <p:extLst>
      <p:ext uri="{BB962C8B-B14F-4D97-AF65-F5344CB8AC3E}">
        <p14:creationId xmlns:p14="http://schemas.microsoft.com/office/powerpoint/2010/main" val="21645865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96953-AF2C-C1FC-352D-28ED24ED88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9C7D7A4-19F6-6C41-EB65-399B3CFC00BE}"/>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Results</a:t>
            </a:r>
            <a:endParaRPr lang="en-IN" sz="3000" b="1" dirty="0"/>
          </a:p>
        </p:txBody>
      </p:sp>
      <p:sp>
        <p:nvSpPr>
          <p:cNvPr id="4" name="TextBox 3">
            <a:extLst>
              <a:ext uri="{FF2B5EF4-FFF2-40B4-BE49-F238E27FC236}">
                <a16:creationId xmlns:a16="http://schemas.microsoft.com/office/drawing/2014/main" id="{583FC5A1-F20D-9A7F-37E0-7359E6BE3F11}"/>
              </a:ext>
            </a:extLst>
          </p:cNvPr>
          <p:cNvSpPr txBox="1"/>
          <p:nvPr/>
        </p:nvSpPr>
        <p:spPr>
          <a:xfrm>
            <a:off x="708058" y="1045014"/>
            <a:ext cx="4368767" cy="6422271"/>
          </a:xfrm>
          <a:prstGeom prst="rect">
            <a:avLst/>
          </a:prstGeom>
          <a:noFill/>
        </p:spPr>
        <p:txBody>
          <a:bodyPr wrap="square" rtlCol="0">
            <a:spAutoFit/>
          </a:bodyPr>
          <a:lstStyle/>
          <a:p>
            <a:pPr>
              <a:spcAft>
                <a:spcPts val="1200"/>
              </a:spcAft>
            </a:pPr>
            <a:r>
              <a:rPr lang="en-US" sz="2000" b="1" dirty="0">
                <a:solidFill>
                  <a:srgbClr val="7030A0"/>
                </a:solidFill>
                <a:latin typeface="Garamond" panose="02020404030301010803" pitchFamily="18" charset="0"/>
              </a:rPr>
              <a:t>Cane Connect Mobile App</a:t>
            </a:r>
            <a:endParaRPr kumimoji="0" lang="en-US" altLang="en-US" sz="1700" b="0" i="0" u="none" strike="noStrike" cap="none" normalizeH="0" baseline="0" dirty="0">
              <a:ln>
                <a:noFill/>
              </a:ln>
              <a:solidFill>
                <a:schemeClr val="tx1"/>
              </a:solidFill>
              <a:effectLst/>
              <a:latin typeface="Garamond" panose="02020404030301010803" pitchFamily="18" charset="0"/>
            </a:endParaRPr>
          </a:p>
          <a:p>
            <a:pPr marL="285750" marR="0" lvl="0" indent="-285750" algn="l" defTabSz="914400" rtl="0" eaLnBrk="0" fontAlgn="base" latinLnBrk="0" hangingPunct="0">
              <a:lnSpc>
                <a:spcPct val="100000"/>
              </a:lnSpc>
              <a:spcBef>
                <a:spcPct val="0"/>
              </a:spcBef>
              <a:spcAft>
                <a:spcPts val="70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prstClr val="black"/>
                </a:solidFill>
                <a:effectLst/>
                <a:uLnTx/>
                <a:uFillTx/>
                <a:latin typeface="Garamond" panose="02020404030301010803" pitchFamily="18" charset="0"/>
              </a:rPr>
              <a:t>The mobile app served as a real-time interface for caregivers to monitor cane activity.</a:t>
            </a:r>
          </a:p>
          <a:p>
            <a:pPr marL="285750" marR="0" lvl="0" indent="-285750" algn="l" defTabSz="914400" rtl="0" eaLnBrk="0" fontAlgn="base" latinLnBrk="0" hangingPunct="0">
              <a:lnSpc>
                <a:spcPct val="100000"/>
              </a:lnSpc>
              <a:spcBef>
                <a:spcPct val="0"/>
              </a:spcBef>
              <a:spcAft>
                <a:spcPts val="70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prstClr val="black"/>
                </a:solidFill>
                <a:effectLst/>
                <a:uLnTx/>
                <a:uFillTx/>
                <a:latin typeface="Garamond" panose="02020404030301010803" pitchFamily="18" charset="0"/>
              </a:rPr>
              <a:t>It displayed the user's live location using Google Maps and tracked fall detection status.</a:t>
            </a:r>
          </a:p>
          <a:p>
            <a:pPr marL="285750" marR="0" lvl="0" indent="-285750" algn="l" defTabSz="914400" rtl="0" eaLnBrk="0" fontAlgn="base" latinLnBrk="0" hangingPunct="0">
              <a:lnSpc>
                <a:spcPct val="100000"/>
              </a:lnSpc>
              <a:spcBef>
                <a:spcPct val="0"/>
              </a:spcBef>
              <a:spcAft>
                <a:spcPts val="70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prstClr val="black"/>
                </a:solidFill>
                <a:effectLst/>
                <a:uLnTx/>
                <a:uFillTx/>
                <a:latin typeface="Garamond" panose="02020404030301010803" pitchFamily="18" charset="0"/>
              </a:rPr>
              <a:t>Caregivers received immediate local notifications when a fall was detected.</a:t>
            </a:r>
          </a:p>
          <a:p>
            <a:pPr marL="285750" marR="0" lvl="0" indent="-285750" algn="l" defTabSz="914400" rtl="0" eaLnBrk="0" fontAlgn="base" latinLnBrk="0" hangingPunct="0">
              <a:lnSpc>
                <a:spcPct val="100000"/>
              </a:lnSpc>
              <a:spcBef>
                <a:spcPct val="0"/>
              </a:spcBef>
              <a:spcAft>
                <a:spcPts val="70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prstClr val="black"/>
                </a:solidFill>
                <a:effectLst/>
                <a:uLnTx/>
                <a:uFillTx/>
                <a:latin typeface="Garamond" panose="02020404030301010803" pitchFamily="18" charset="0"/>
              </a:rPr>
              <a:t>The app generated navigation routes using the Google Directions API and uploaded step-by-step instructions to </a:t>
            </a:r>
            <a:r>
              <a:rPr kumimoji="0" lang="en-US" altLang="en-US" sz="1800" b="0" i="0" u="none" strike="noStrike" kern="1200" cap="none" spc="0" normalizeH="0" baseline="0" noProof="0" dirty="0" err="1">
                <a:ln>
                  <a:noFill/>
                </a:ln>
                <a:solidFill>
                  <a:prstClr val="black"/>
                </a:solidFill>
                <a:effectLst/>
                <a:uLnTx/>
                <a:uFillTx/>
                <a:latin typeface="Garamond" panose="02020404030301010803" pitchFamily="18" charset="0"/>
              </a:rPr>
              <a:t>Firestore</a:t>
            </a:r>
            <a:r>
              <a:rPr kumimoji="0" lang="en-US" altLang="en-US" sz="1800" b="0" i="0" u="none" strike="noStrike" kern="1200" cap="none" spc="0" normalizeH="0" baseline="0" noProof="0" dirty="0">
                <a:ln>
                  <a:noFill/>
                </a:ln>
                <a:solidFill>
                  <a:prstClr val="black"/>
                </a:solidFill>
                <a:effectLst/>
                <a:uLnTx/>
                <a:uFillTx/>
                <a:latin typeface="Garamond" panose="02020404030301010803"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prstClr val="black"/>
                </a:solidFill>
                <a:effectLst/>
                <a:uLnTx/>
                <a:uFillTx/>
                <a:latin typeface="Garamond" panose="02020404030301010803" pitchFamily="18" charset="0"/>
              </a:rPr>
              <a:t>Background services ensured continuous alerts and tracking even when the app was closed.</a:t>
            </a:r>
          </a:p>
          <a:p>
            <a:pPr lvl="0" defTabSz="914400" eaLnBrk="0" fontAlgn="base" hangingPunct="0">
              <a:spcBef>
                <a:spcPct val="0"/>
              </a:spcBef>
              <a:spcAft>
                <a:spcPct val="0"/>
              </a:spcAft>
            </a:pPr>
            <a:endParaRPr lang="en-US" altLang="en-US" b="1" dirty="0">
              <a:solidFill>
                <a:srgbClr val="7030A0"/>
              </a:solidFill>
              <a:latin typeface="Garamond" panose="02020404030301010803" pitchFamily="18" charset="0"/>
            </a:endParaRPr>
          </a:p>
          <a:p>
            <a:pPr lvl="0" defTabSz="914400" eaLnBrk="0" fontAlgn="base" hangingPunct="0">
              <a:spcBef>
                <a:spcPct val="0"/>
              </a:spcBef>
              <a:spcAft>
                <a:spcPct val="0"/>
              </a:spcAft>
            </a:pPr>
            <a:endParaRPr lang="en-US" altLang="en-US" b="1" dirty="0">
              <a:solidFill>
                <a:srgbClr val="7030A0"/>
              </a:solidFill>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1"/>
              </a:solidFill>
              <a:effectLst/>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1"/>
              </a:solidFill>
              <a:effectLst/>
              <a:latin typeface="Garamond" panose="02020404030301010803" pitchFamily="18" charset="0"/>
            </a:endParaRPr>
          </a:p>
          <a:p>
            <a:endParaRPr lang="en-IN" sz="1700" dirty="0">
              <a:effectLst/>
              <a:latin typeface="Garamond" panose="02020404030301010803" pitchFamily="18" charset="0"/>
              <a:ea typeface="Times New Roman" panose="02020603050405020304" pitchFamily="18" charset="0"/>
            </a:endParaRPr>
          </a:p>
          <a:p>
            <a:endParaRPr lang="en-IN" sz="1700" dirty="0"/>
          </a:p>
        </p:txBody>
      </p:sp>
      <p:sp>
        <p:nvSpPr>
          <p:cNvPr id="7" name="AutoShape 2">
            <a:extLst>
              <a:ext uri="{FF2B5EF4-FFF2-40B4-BE49-F238E27FC236}">
                <a16:creationId xmlns:a16="http://schemas.microsoft.com/office/drawing/2014/main" id="{84185498-C3C0-342D-0A29-9FC885E11A0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6994FF2E-2331-5B8D-F521-0662C0650931}"/>
              </a:ext>
            </a:extLst>
          </p:cNvPr>
          <p:cNvPicPr>
            <a:picLocks noChangeAspect="1"/>
          </p:cNvPicPr>
          <p:nvPr/>
        </p:nvPicPr>
        <p:blipFill>
          <a:blip r:embed="rId2"/>
          <a:stretch>
            <a:fillRect/>
          </a:stretch>
        </p:blipFill>
        <p:spPr>
          <a:xfrm>
            <a:off x="6096000" y="1040429"/>
            <a:ext cx="2177102" cy="4472342"/>
          </a:xfrm>
          <a:prstGeom prst="rect">
            <a:avLst/>
          </a:prstGeom>
        </p:spPr>
      </p:pic>
      <p:pic>
        <p:nvPicPr>
          <p:cNvPr id="9" name="Picture 8">
            <a:extLst>
              <a:ext uri="{FF2B5EF4-FFF2-40B4-BE49-F238E27FC236}">
                <a16:creationId xmlns:a16="http://schemas.microsoft.com/office/drawing/2014/main" id="{C43788FD-FFC7-D61A-1CBD-46A2A58B1FCA}"/>
              </a:ext>
            </a:extLst>
          </p:cNvPr>
          <p:cNvPicPr>
            <a:picLocks noChangeAspect="1"/>
          </p:cNvPicPr>
          <p:nvPr/>
        </p:nvPicPr>
        <p:blipFill>
          <a:blip r:embed="rId3"/>
          <a:stretch>
            <a:fillRect/>
          </a:stretch>
        </p:blipFill>
        <p:spPr>
          <a:xfrm>
            <a:off x="9246463" y="1040429"/>
            <a:ext cx="2126885" cy="4472342"/>
          </a:xfrm>
          <a:prstGeom prst="rect">
            <a:avLst/>
          </a:prstGeom>
        </p:spPr>
      </p:pic>
    </p:spTree>
    <p:extLst>
      <p:ext uri="{BB962C8B-B14F-4D97-AF65-F5344CB8AC3E}">
        <p14:creationId xmlns:p14="http://schemas.microsoft.com/office/powerpoint/2010/main" val="22300618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A0046-8EA2-9E45-FDAF-B1C5DFBC88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52B99B4-8B20-9700-681F-F5F0472742FF}"/>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Results</a:t>
            </a:r>
            <a:endParaRPr lang="en-IN" sz="3000" b="1" dirty="0"/>
          </a:p>
        </p:txBody>
      </p:sp>
      <p:sp>
        <p:nvSpPr>
          <p:cNvPr id="4" name="TextBox 3">
            <a:extLst>
              <a:ext uri="{FF2B5EF4-FFF2-40B4-BE49-F238E27FC236}">
                <a16:creationId xmlns:a16="http://schemas.microsoft.com/office/drawing/2014/main" id="{AEB40846-B7FE-0A1A-AF75-CC3323215EDC}"/>
              </a:ext>
            </a:extLst>
          </p:cNvPr>
          <p:cNvSpPr txBox="1"/>
          <p:nvPr/>
        </p:nvSpPr>
        <p:spPr>
          <a:xfrm>
            <a:off x="708057" y="1208915"/>
            <a:ext cx="4635468" cy="5955476"/>
          </a:xfrm>
          <a:prstGeom prst="rect">
            <a:avLst/>
          </a:prstGeom>
          <a:noFill/>
        </p:spPr>
        <p:txBody>
          <a:bodyPr wrap="square" rtlCol="0">
            <a:spAutoFit/>
          </a:bodyPr>
          <a:lstStyle/>
          <a:p>
            <a:pPr>
              <a:spcAft>
                <a:spcPts val="1200"/>
              </a:spcAft>
            </a:pPr>
            <a:r>
              <a:rPr lang="en-US" sz="2000" b="1" dirty="0">
                <a:solidFill>
                  <a:srgbClr val="7030A0"/>
                </a:solidFill>
                <a:latin typeface="Garamond" panose="02020404030301010803" pitchFamily="18" charset="0"/>
              </a:rPr>
              <a:t>Prototype Integration and Assembly</a:t>
            </a:r>
          </a:p>
          <a:p>
            <a:pPr marL="285750" indent="-285750">
              <a:spcAft>
                <a:spcPts val="120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Garamond" panose="02020404030301010803" pitchFamily="18" charset="0"/>
              </a:rPr>
              <a:t>All hardware modules—MPU6050, NEO-6M GPS, ultrasonic sensors, MAX98357A DAC, and ESP32—were successfully integrated on a compact PCB setup.</a:t>
            </a:r>
          </a:p>
          <a:p>
            <a:pPr marL="285750" indent="-285750">
              <a:spcAft>
                <a:spcPts val="120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Garamond" panose="02020404030301010803" pitchFamily="18" charset="0"/>
              </a:rPr>
              <a:t>Components were powered using a rechargeable 3.7V Li-ion battery power circuit for portability.</a:t>
            </a:r>
          </a:p>
          <a:p>
            <a:pPr marL="285750" indent="-285750">
              <a:spcAft>
                <a:spcPts val="120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Garamond" panose="02020404030301010803" pitchFamily="18" charset="0"/>
              </a:rPr>
              <a:t>The complete system was assembled onto a standard cane, allowing for mobility testing in outdoor conditions.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700" b="0" i="0" u="none" strike="noStrike" cap="none" normalizeH="0" baseline="0" dirty="0">
              <a:ln>
                <a:noFill/>
              </a:ln>
              <a:solidFill>
                <a:schemeClr val="tx1"/>
              </a:solidFill>
              <a:effectLst/>
              <a:latin typeface="Garamond" panose="02020404030301010803" pitchFamily="18" charset="0"/>
            </a:endParaRPr>
          </a:p>
          <a:p>
            <a:pPr lvl="0" defTabSz="914400" eaLnBrk="0" fontAlgn="base" hangingPunct="0">
              <a:spcBef>
                <a:spcPct val="0"/>
              </a:spcBef>
              <a:spcAft>
                <a:spcPct val="0"/>
              </a:spcAft>
            </a:pPr>
            <a:endParaRPr lang="en-US" altLang="en-US" b="1" dirty="0">
              <a:solidFill>
                <a:srgbClr val="7030A0"/>
              </a:solidFill>
              <a:latin typeface="Garamond" panose="02020404030301010803" pitchFamily="18" charset="0"/>
            </a:endParaRPr>
          </a:p>
          <a:p>
            <a:pPr lvl="0" defTabSz="914400" eaLnBrk="0" fontAlgn="base" hangingPunct="0">
              <a:spcBef>
                <a:spcPct val="0"/>
              </a:spcBef>
              <a:spcAft>
                <a:spcPct val="0"/>
              </a:spcAft>
            </a:pPr>
            <a:endParaRPr lang="en-US" altLang="en-US" b="1" dirty="0">
              <a:solidFill>
                <a:srgbClr val="7030A0"/>
              </a:solidFill>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1"/>
              </a:solidFill>
              <a:effectLst/>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1"/>
              </a:solidFill>
              <a:effectLst/>
              <a:latin typeface="Garamond" panose="02020404030301010803" pitchFamily="18" charset="0"/>
            </a:endParaRPr>
          </a:p>
          <a:p>
            <a:endParaRPr lang="en-IN" sz="1700" dirty="0">
              <a:effectLst/>
              <a:latin typeface="Garamond" panose="02020404030301010803" pitchFamily="18" charset="0"/>
              <a:ea typeface="Times New Roman" panose="02020603050405020304" pitchFamily="18" charset="0"/>
            </a:endParaRPr>
          </a:p>
          <a:p>
            <a:endParaRPr lang="en-IN" sz="1700" dirty="0"/>
          </a:p>
        </p:txBody>
      </p:sp>
      <p:sp>
        <p:nvSpPr>
          <p:cNvPr id="7" name="AutoShape 2">
            <a:extLst>
              <a:ext uri="{FF2B5EF4-FFF2-40B4-BE49-F238E27FC236}">
                <a16:creationId xmlns:a16="http://schemas.microsoft.com/office/drawing/2014/main" id="{7F801A7B-E226-1F61-1A47-E52BDB19A3B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C2C71105-4725-71FC-8E9A-2EAFF35B6C0C}"/>
              </a:ext>
            </a:extLst>
          </p:cNvPr>
          <p:cNvPicPr>
            <a:picLocks noChangeAspect="1"/>
          </p:cNvPicPr>
          <p:nvPr/>
        </p:nvPicPr>
        <p:blipFill>
          <a:blip r:embed="rId2"/>
          <a:stretch>
            <a:fillRect/>
          </a:stretch>
        </p:blipFill>
        <p:spPr>
          <a:xfrm>
            <a:off x="6018186" y="1373344"/>
            <a:ext cx="2710183" cy="3608231"/>
          </a:xfrm>
          <a:prstGeom prst="rect">
            <a:avLst/>
          </a:prstGeom>
        </p:spPr>
      </p:pic>
      <p:pic>
        <p:nvPicPr>
          <p:cNvPr id="6" name="Picture 5">
            <a:extLst>
              <a:ext uri="{FF2B5EF4-FFF2-40B4-BE49-F238E27FC236}">
                <a16:creationId xmlns:a16="http://schemas.microsoft.com/office/drawing/2014/main" id="{3F4F2C59-CBF8-8A2E-4A37-BB3D3A8F974F}"/>
              </a:ext>
            </a:extLst>
          </p:cNvPr>
          <p:cNvPicPr>
            <a:picLocks noChangeAspect="1"/>
          </p:cNvPicPr>
          <p:nvPr/>
        </p:nvPicPr>
        <p:blipFill>
          <a:blip r:embed="rId3"/>
          <a:stretch>
            <a:fillRect/>
          </a:stretch>
        </p:blipFill>
        <p:spPr>
          <a:xfrm>
            <a:off x="9058193" y="1373344"/>
            <a:ext cx="2718418" cy="3608230"/>
          </a:xfrm>
          <a:prstGeom prst="rect">
            <a:avLst/>
          </a:prstGeom>
        </p:spPr>
      </p:pic>
    </p:spTree>
    <p:extLst>
      <p:ext uri="{BB962C8B-B14F-4D97-AF65-F5344CB8AC3E}">
        <p14:creationId xmlns:p14="http://schemas.microsoft.com/office/powerpoint/2010/main" val="35045000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021E8-F2DE-CD94-4F0D-B56BD7A94C1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B060E1B-E62E-45CA-5332-98053ACE098A}"/>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Results</a:t>
            </a:r>
            <a:endParaRPr lang="en-IN" sz="3000" b="1" dirty="0"/>
          </a:p>
        </p:txBody>
      </p:sp>
      <p:sp>
        <p:nvSpPr>
          <p:cNvPr id="4" name="TextBox 3">
            <a:extLst>
              <a:ext uri="{FF2B5EF4-FFF2-40B4-BE49-F238E27FC236}">
                <a16:creationId xmlns:a16="http://schemas.microsoft.com/office/drawing/2014/main" id="{52D88583-FB6D-398E-4FEA-BF6F01F35D4F}"/>
              </a:ext>
            </a:extLst>
          </p:cNvPr>
          <p:cNvSpPr txBox="1"/>
          <p:nvPr/>
        </p:nvSpPr>
        <p:spPr>
          <a:xfrm>
            <a:off x="708058" y="1045014"/>
            <a:ext cx="9245567" cy="7137851"/>
          </a:xfrm>
          <a:prstGeom prst="rect">
            <a:avLst/>
          </a:prstGeom>
          <a:noFill/>
        </p:spPr>
        <p:txBody>
          <a:bodyPr wrap="square" rtlCol="0">
            <a:spAutoFit/>
          </a:bodyPr>
          <a:lstStyle/>
          <a:p>
            <a:pPr>
              <a:spcAft>
                <a:spcPts val="700"/>
              </a:spcAft>
              <a:buNone/>
            </a:pPr>
            <a:r>
              <a:rPr lang="en-US" sz="2000" b="1" dirty="0">
                <a:solidFill>
                  <a:srgbClr val="7030A0"/>
                </a:solidFill>
                <a:latin typeface="Garamond" panose="02020404030301010803" pitchFamily="18" charset="0"/>
              </a:rPr>
              <a:t>System Performance Summary &amp; Interpretation</a:t>
            </a:r>
          </a:p>
          <a:p>
            <a:pPr marL="342900" indent="-342900">
              <a:spcAft>
                <a:spcPts val="500"/>
              </a:spcAft>
              <a:buFont typeface="Wingdings" panose="05000000000000000000" pitchFamily="2" charset="2"/>
              <a:buChar char="v"/>
            </a:pPr>
            <a:r>
              <a:rPr lang="en-US" sz="1900" dirty="0">
                <a:latin typeface="Garamond" panose="02020404030301010803" pitchFamily="18" charset="0"/>
              </a:rPr>
              <a:t>All core functionalities—fall detection, obstacle alert, GPS tracking, and navigation—were successfully implemented and tested.</a:t>
            </a:r>
          </a:p>
          <a:p>
            <a:pPr marL="342900" indent="-342900">
              <a:spcAft>
                <a:spcPts val="500"/>
              </a:spcAft>
              <a:buFont typeface="Wingdings" panose="05000000000000000000" pitchFamily="2" charset="2"/>
              <a:buChar char="v"/>
            </a:pPr>
            <a:r>
              <a:rPr lang="en-US" sz="1900" dirty="0">
                <a:latin typeface="Garamond" panose="02020404030301010803" pitchFamily="18" charset="0"/>
              </a:rPr>
              <a:t>Fall detection using the MPU6050 was accurate, with reliable confirmation through gyroscope values and minimal false positives.</a:t>
            </a:r>
          </a:p>
          <a:p>
            <a:pPr marL="342900" indent="-342900">
              <a:spcAft>
                <a:spcPts val="500"/>
              </a:spcAft>
              <a:buFont typeface="Wingdings" panose="05000000000000000000" pitchFamily="2" charset="2"/>
              <a:buChar char="v"/>
            </a:pPr>
            <a:r>
              <a:rPr lang="en-US" sz="1900" dirty="0">
                <a:latin typeface="Garamond" panose="02020404030301010803" pitchFamily="18" charset="0"/>
              </a:rPr>
              <a:t>Navigation audio instructions triggered precisely at the intended GPS waypoints, with smooth audio playback via I2S DAC.</a:t>
            </a:r>
          </a:p>
          <a:p>
            <a:pPr marL="342900" indent="-342900">
              <a:spcAft>
                <a:spcPts val="500"/>
              </a:spcAft>
              <a:buFont typeface="Wingdings" panose="05000000000000000000" pitchFamily="2" charset="2"/>
              <a:buChar char="v"/>
            </a:pPr>
            <a:r>
              <a:rPr lang="en-US" sz="1900" dirty="0">
                <a:latin typeface="Garamond" panose="02020404030301010803" pitchFamily="18" charset="0"/>
              </a:rPr>
              <a:t>Obstacle detection effectively alerted the user using vibration feedback within the 5–100 cm range.</a:t>
            </a:r>
          </a:p>
          <a:p>
            <a:pPr marL="342900" indent="-342900">
              <a:spcAft>
                <a:spcPts val="500"/>
              </a:spcAft>
              <a:buFont typeface="Wingdings" panose="05000000000000000000" pitchFamily="2" charset="2"/>
              <a:buChar char="v"/>
            </a:pPr>
            <a:r>
              <a:rPr lang="en-US" sz="1900" dirty="0">
                <a:latin typeface="Garamond" panose="02020404030301010803" pitchFamily="18" charset="0"/>
              </a:rPr>
              <a:t>GPS tracking was real-time and consistently reflected on the mobile app using Firebase and Google Maps.</a:t>
            </a:r>
          </a:p>
          <a:p>
            <a:pPr marL="342900" indent="-342900">
              <a:spcAft>
                <a:spcPts val="500"/>
              </a:spcAft>
              <a:buFont typeface="Wingdings" panose="05000000000000000000" pitchFamily="2" charset="2"/>
              <a:buChar char="v"/>
            </a:pPr>
            <a:r>
              <a:rPr lang="en-US" sz="1900" dirty="0">
                <a:latin typeface="Garamond" panose="02020404030301010803" pitchFamily="18" charset="0"/>
              </a:rPr>
              <a:t>Mobile app notifications were instant, even when running in the background, ensuring continuous caregiver awareness.</a:t>
            </a:r>
          </a:p>
          <a:p>
            <a:pPr marL="342900" indent="-342900">
              <a:buFont typeface="Wingdings" panose="05000000000000000000" pitchFamily="2" charset="2"/>
              <a:buChar char="v"/>
            </a:pPr>
            <a:r>
              <a:rPr lang="en-US" sz="1900" dirty="0">
                <a:latin typeface="Garamond" panose="02020404030301010803" pitchFamily="18" charset="0"/>
              </a:rPr>
              <a:t>Overall, the system operated with minimal latency, stable cloud communication, and effective real-world responsiveness.</a:t>
            </a:r>
          </a:p>
          <a:p>
            <a:pPr marR="0" lvl="0" algn="l" defTabSz="914400" rtl="0" eaLnBrk="0" fontAlgn="base" latinLnBrk="0" hangingPunct="0">
              <a:lnSpc>
                <a:spcPct val="100000"/>
              </a:lnSpc>
              <a:spcBef>
                <a:spcPct val="0"/>
              </a:spcBef>
              <a:spcAft>
                <a:spcPct val="0"/>
              </a:spcAft>
              <a:buClrTx/>
              <a:buSzTx/>
              <a:tabLst/>
            </a:pPr>
            <a:endParaRPr kumimoji="0" lang="en-US" altLang="en-US" sz="1700" b="0" i="0" u="none" strike="noStrike" cap="none" normalizeH="0" baseline="0" dirty="0">
              <a:ln>
                <a:noFill/>
              </a:ln>
              <a:solidFill>
                <a:schemeClr val="tx1"/>
              </a:solidFill>
              <a:effectLst/>
              <a:latin typeface="Garamond" panose="02020404030301010803" pitchFamily="18" charset="0"/>
            </a:endParaRPr>
          </a:p>
          <a:p>
            <a:pPr lvl="0" defTabSz="914400" eaLnBrk="0" fontAlgn="base" hangingPunct="0">
              <a:spcBef>
                <a:spcPct val="0"/>
              </a:spcBef>
              <a:spcAft>
                <a:spcPct val="0"/>
              </a:spcAft>
            </a:pPr>
            <a:endParaRPr lang="en-US" altLang="en-US" b="1" dirty="0">
              <a:solidFill>
                <a:srgbClr val="7030A0"/>
              </a:solidFill>
              <a:latin typeface="Garamond" panose="02020404030301010803" pitchFamily="18" charset="0"/>
            </a:endParaRPr>
          </a:p>
          <a:p>
            <a:pPr lvl="0" defTabSz="914400" eaLnBrk="0" fontAlgn="base" hangingPunct="0">
              <a:spcBef>
                <a:spcPct val="0"/>
              </a:spcBef>
              <a:spcAft>
                <a:spcPct val="0"/>
              </a:spcAft>
            </a:pPr>
            <a:endParaRPr lang="en-US" altLang="en-US" b="1" dirty="0">
              <a:solidFill>
                <a:srgbClr val="7030A0"/>
              </a:solidFill>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1"/>
              </a:solidFill>
              <a:effectLst/>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1"/>
              </a:solidFill>
              <a:effectLst/>
              <a:latin typeface="Garamond" panose="02020404030301010803" pitchFamily="18" charset="0"/>
            </a:endParaRPr>
          </a:p>
          <a:p>
            <a:endParaRPr lang="en-IN" sz="1700" dirty="0">
              <a:effectLst/>
              <a:latin typeface="Garamond" panose="02020404030301010803" pitchFamily="18" charset="0"/>
              <a:ea typeface="Times New Roman" panose="02020603050405020304" pitchFamily="18" charset="0"/>
            </a:endParaRPr>
          </a:p>
          <a:p>
            <a:endParaRPr lang="en-IN" sz="1700" dirty="0"/>
          </a:p>
        </p:txBody>
      </p:sp>
      <p:sp>
        <p:nvSpPr>
          <p:cNvPr id="7" name="AutoShape 2">
            <a:extLst>
              <a:ext uri="{FF2B5EF4-FFF2-40B4-BE49-F238E27FC236}">
                <a16:creationId xmlns:a16="http://schemas.microsoft.com/office/drawing/2014/main" id="{2C296F53-AE6C-F1E4-90E5-FACEB28699C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5925989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62632-AA29-36E4-CAE6-BC2537F4278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582E9A6-60CE-5AFE-033B-38E811EDB2BA}"/>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Results</a:t>
            </a:r>
            <a:endParaRPr lang="en-IN" sz="3000" b="1" dirty="0"/>
          </a:p>
        </p:txBody>
      </p:sp>
      <p:sp>
        <p:nvSpPr>
          <p:cNvPr id="4" name="TextBox 3">
            <a:extLst>
              <a:ext uri="{FF2B5EF4-FFF2-40B4-BE49-F238E27FC236}">
                <a16:creationId xmlns:a16="http://schemas.microsoft.com/office/drawing/2014/main" id="{A5B6D9DA-99E7-F7A5-ED63-D47E9322CFA0}"/>
              </a:ext>
            </a:extLst>
          </p:cNvPr>
          <p:cNvSpPr txBox="1"/>
          <p:nvPr/>
        </p:nvSpPr>
        <p:spPr>
          <a:xfrm>
            <a:off x="708057" y="1140264"/>
            <a:ext cx="9245567" cy="6865982"/>
          </a:xfrm>
          <a:prstGeom prst="rect">
            <a:avLst/>
          </a:prstGeom>
          <a:noFill/>
        </p:spPr>
        <p:txBody>
          <a:bodyPr wrap="square" rtlCol="0">
            <a:spAutoFit/>
          </a:bodyPr>
          <a:lstStyle/>
          <a:p>
            <a:pPr>
              <a:spcAft>
                <a:spcPts val="1200"/>
              </a:spcAft>
              <a:buNone/>
            </a:pPr>
            <a:r>
              <a:rPr lang="en-US" sz="2000" b="1" dirty="0">
                <a:solidFill>
                  <a:srgbClr val="7030A0"/>
                </a:solidFill>
                <a:latin typeface="Garamond" panose="02020404030301010803" pitchFamily="18" charset="0"/>
              </a:rPr>
              <a:t>Discussion and Limitations</a:t>
            </a:r>
          </a:p>
          <a:p>
            <a:pPr marL="342900" indent="-342900">
              <a:spcAft>
                <a:spcPts val="1000"/>
              </a:spcAft>
              <a:buFont typeface="Wingdings" panose="05000000000000000000" pitchFamily="2" charset="2"/>
              <a:buChar char="v"/>
            </a:pPr>
            <a:r>
              <a:rPr lang="en-US" sz="2000" b="1" dirty="0">
                <a:latin typeface="Garamond" panose="02020404030301010803" pitchFamily="18" charset="0"/>
              </a:rPr>
              <a:t>Audio Output Volume:</a:t>
            </a:r>
            <a:br>
              <a:rPr lang="en-US" sz="2000" dirty="0">
                <a:latin typeface="Garamond" panose="02020404030301010803" pitchFamily="18" charset="0"/>
              </a:rPr>
            </a:br>
            <a:r>
              <a:rPr lang="en-US" sz="2000" dirty="0">
                <a:latin typeface="Garamond" panose="02020404030301010803" pitchFamily="18" charset="0"/>
              </a:rPr>
              <a:t>The onboard speaker volume is low in noisy outdoor environments, which may affect instruction clarity.</a:t>
            </a:r>
          </a:p>
          <a:p>
            <a:pPr marL="342900" indent="-342900">
              <a:spcAft>
                <a:spcPts val="1000"/>
              </a:spcAft>
              <a:buFont typeface="Wingdings" panose="05000000000000000000" pitchFamily="2" charset="2"/>
              <a:buChar char="v"/>
            </a:pPr>
            <a:r>
              <a:rPr lang="en-US" sz="2000" b="1" dirty="0">
                <a:latin typeface="Garamond" panose="02020404030301010803" pitchFamily="18" charset="0"/>
              </a:rPr>
              <a:t>ESP32 Memory Limitations:</a:t>
            </a:r>
            <a:br>
              <a:rPr lang="en-US" sz="2000" dirty="0">
                <a:latin typeface="Garamond" panose="02020404030301010803" pitchFamily="18" charset="0"/>
              </a:rPr>
            </a:br>
            <a:r>
              <a:rPr lang="en-US" sz="2000" dirty="0">
                <a:latin typeface="Garamond" panose="02020404030301010803" pitchFamily="18" charset="0"/>
              </a:rPr>
              <a:t>Limited flash/RAM restricts the number and size of audio files that can be buffered during navigation.</a:t>
            </a:r>
          </a:p>
          <a:p>
            <a:pPr marL="342900" indent="-342900">
              <a:spcAft>
                <a:spcPts val="1000"/>
              </a:spcAft>
              <a:buFont typeface="Wingdings" panose="05000000000000000000" pitchFamily="2" charset="2"/>
              <a:buChar char="v"/>
            </a:pPr>
            <a:r>
              <a:rPr lang="en-US" sz="2000" b="1" dirty="0">
                <a:latin typeface="Garamond" panose="02020404030301010803" pitchFamily="18" charset="0"/>
              </a:rPr>
              <a:t>Ultrasonic Range Constraints:</a:t>
            </a:r>
            <a:br>
              <a:rPr lang="en-US" sz="2000" dirty="0">
                <a:latin typeface="Garamond" panose="02020404030301010803" pitchFamily="18" charset="0"/>
              </a:rPr>
            </a:br>
            <a:r>
              <a:rPr lang="en-US" sz="2000" dirty="0">
                <a:latin typeface="Garamond" panose="02020404030301010803" pitchFamily="18" charset="0"/>
              </a:rPr>
              <a:t>HC-SR04 sensors are limited to ~2 meters and may not reliably detect thin or fast-moving obstacles, reducing overall obstacle awareness.</a:t>
            </a:r>
          </a:p>
          <a:p>
            <a:pPr marL="342900" indent="-342900">
              <a:spcAft>
                <a:spcPts val="1000"/>
              </a:spcAft>
              <a:buFont typeface="Wingdings" panose="05000000000000000000" pitchFamily="2" charset="2"/>
              <a:buChar char="v"/>
            </a:pPr>
            <a:r>
              <a:rPr lang="en-US" sz="2000" b="1" dirty="0">
                <a:latin typeface="Garamond" panose="02020404030301010803" pitchFamily="18" charset="0"/>
              </a:rPr>
              <a:t>Connectivity Dependency:</a:t>
            </a:r>
            <a:br>
              <a:rPr lang="en-US" sz="2000" dirty="0">
                <a:latin typeface="Garamond" panose="02020404030301010803" pitchFamily="18" charset="0"/>
              </a:rPr>
            </a:br>
            <a:r>
              <a:rPr lang="en-US" sz="2000" dirty="0">
                <a:latin typeface="Garamond" panose="02020404030301010803" pitchFamily="18" charset="0"/>
              </a:rPr>
              <a:t>The Smart Cane relies on internet connectivity for features like navigation and alerts. In areas with poor network coverage, these functions may not work reliably.</a:t>
            </a:r>
            <a:endParaRPr kumimoji="0" lang="en-US" altLang="en-US" sz="1700" b="0" i="0" u="none" strike="noStrike" cap="none" normalizeH="0" baseline="0" dirty="0">
              <a:ln>
                <a:noFill/>
              </a:ln>
              <a:solidFill>
                <a:schemeClr val="tx1"/>
              </a:solidFill>
              <a:effectLst/>
              <a:latin typeface="Garamond" panose="02020404030301010803" pitchFamily="18" charset="0"/>
            </a:endParaRPr>
          </a:p>
          <a:p>
            <a:pPr lvl="0" defTabSz="914400" eaLnBrk="0" fontAlgn="base" hangingPunct="0">
              <a:spcBef>
                <a:spcPct val="0"/>
              </a:spcBef>
              <a:spcAft>
                <a:spcPct val="0"/>
              </a:spcAft>
            </a:pPr>
            <a:endParaRPr lang="en-US" altLang="en-US" b="1" dirty="0">
              <a:solidFill>
                <a:srgbClr val="7030A0"/>
              </a:solidFill>
              <a:latin typeface="Garamond" panose="02020404030301010803" pitchFamily="18" charset="0"/>
            </a:endParaRPr>
          </a:p>
          <a:p>
            <a:pPr lvl="0" defTabSz="914400" eaLnBrk="0" fontAlgn="base" hangingPunct="0">
              <a:spcBef>
                <a:spcPct val="0"/>
              </a:spcBef>
              <a:spcAft>
                <a:spcPct val="0"/>
              </a:spcAft>
            </a:pPr>
            <a:endParaRPr lang="en-US" altLang="en-US" b="1" dirty="0">
              <a:solidFill>
                <a:srgbClr val="7030A0"/>
              </a:solidFill>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1"/>
              </a:solidFill>
              <a:effectLst/>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1"/>
              </a:solidFill>
              <a:effectLst/>
              <a:latin typeface="Garamond" panose="02020404030301010803" pitchFamily="18" charset="0"/>
            </a:endParaRPr>
          </a:p>
          <a:p>
            <a:endParaRPr lang="en-IN" sz="1700" dirty="0">
              <a:effectLst/>
              <a:latin typeface="Garamond" panose="02020404030301010803" pitchFamily="18" charset="0"/>
              <a:ea typeface="Times New Roman" panose="02020603050405020304" pitchFamily="18" charset="0"/>
            </a:endParaRPr>
          </a:p>
          <a:p>
            <a:endParaRPr lang="en-IN" sz="1700" dirty="0"/>
          </a:p>
        </p:txBody>
      </p:sp>
      <p:sp>
        <p:nvSpPr>
          <p:cNvPr id="7" name="AutoShape 2">
            <a:extLst>
              <a:ext uri="{FF2B5EF4-FFF2-40B4-BE49-F238E27FC236}">
                <a16:creationId xmlns:a16="http://schemas.microsoft.com/office/drawing/2014/main" id="{4DC642EA-8B10-5632-5FE9-4DEB38D9B99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0488614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3D50A-3B20-60E7-28C6-90D93F045AD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256F42-02D5-912F-30B4-D8B66C964547}"/>
              </a:ext>
            </a:extLst>
          </p:cNvPr>
          <p:cNvSpPr txBox="1"/>
          <p:nvPr/>
        </p:nvSpPr>
        <p:spPr>
          <a:xfrm>
            <a:off x="708057" y="458131"/>
            <a:ext cx="10418652" cy="553998"/>
          </a:xfrm>
          <a:prstGeom prst="rect">
            <a:avLst/>
          </a:prstGeom>
          <a:noFill/>
        </p:spPr>
        <p:txBody>
          <a:bodyPr wrap="square">
            <a:spAutoFit/>
          </a:bodyPr>
          <a:lstStyle/>
          <a:p>
            <a:pPr>
              <a:spcAft>
                <a:spcPts val="700"/>
              </a:spcAft>
              <a:buNone/>
            </a:pPr>
            <a:r>
              <a:rPr lang="en-IN" sz="3000" b="1" dirty="0">
                <a:solidFill>
                  <a:schemeClr val="accent1"/>
                </a:solidFill>
                <a:latin typeface="Garamond" panose="02020404030301010803" pitchFamily="18" charset="0"/>
              </a:rPr>
              <a:t>Standards Used</a:t>
            </a:r>
          </a:p>
        </p:txBody>
      </p:sp>
      <p:sp>
        <p:nvSpPr>
          <p:cNvPr id="4" name="TextBox 3">
            <a:extLst>
              <a:ext uri="{FF2B5EF4-FFF2-40B4-BE49-F238E27FC236}">
                <a16:creationId xmlns:a16="http://schemas.microsoft.com/office/drawing/2014/main" id="{4F0FA0F8-CB49-7820-33EA-225A1B8F9EF8}"/>
              </a:ext>
            </a:extLst>
          </p:cNvPr>
          <p:cNvSpPr txBox="1"/>
          <p:nvPr/>
        </p:nvSpPr>
        <p:spPr>
          <a:xfrm>
            <a:off x="708057" y="1140264"/>
            <a:ext cx="9702768" cy="6199133"/>
          </a:xfrm>
          <a:prstGeom prst="rect">
            <a:avLst/>
          </a:prstGeom>
          <a:noFill/>
        </p:spPr>
        <p:txBody>
          <a:bodyPr wrap="square" rtlCol="0">
            <a:spAutoFit/>
          </a:bodyPr>
          <a:lstStyle/>
          <a:p>
            <a:pPr marL="342900" indent="-342900">
              <a:spcAft>
                <a:spcPts val="500"/>
              </a:spcAft>
              <a:buFont typeface="+mj-lt"/>
              <a:buAutoNum type="arabicPeriod"/>
            </a:pPr>
            <a:r>
              <a:rPr lang="en-IN" sz="1600" b="1" dirty="0">
                <a:latin typeface="Garamond" panose="02020404030301010803" pitchFamily="18" charset="0"/>
              </a:rPr>
              <a:t>IEEE 802.11 (Wi-Fi):</a:t>
            </a:r>
            <a:br>
              <a:rPr lang="en-IN" sz="1600" dirty="0">
                <a:latin typeface="Garamond" panose="02020404030301010803" pitchFamily="18" charset="0"/>
              </a:rPr>
            </a:br>
            <a:r>
              <a:rPr lang="en-IN" sz="1600" dirty="0">
                <a:latin typeface="Garamond" panose="02020404030301010803" pitchFamily="18" charset="0"/>
              </a:rPr>
              <a:t>Enables wireless data transmission between the ESP32 and Firebase for real-time updates of GPS, fall status, and navigation data.</a:t>
            </a:r>
          </a:p>
          <a:p>
            <a:pPr marL="342900" indent="-342900">
              <a:spcAft>
                <a:spcPts val="500"/>
              </a:spcAft>
              <a:buFont typeface="+mj-lt"/>
              <a:buAutoNum type="arabicPeriod"/>
            </a:pPr>
            <a:r>
              <a:rPr lang="en-IN" sz="1600" b="1" dirty="0">
                <a:latin typeface="Garamond" panose="02020404030301010803" pitchFamily="18" charset="0"/>
              </a:rPr>
              <a:t>NMEA 0183 (GPS Communication Protocol):</a:t>
            </a:r>
            <a:br>
              <a:rPr lang="en-IN" sz="1600" dirty="0">
                <a:latin typeface="Garamond" panose="02020404030301010803" pitchFamily="18" charset="0"/>
              </a:rPr>
            </a:br>
            <a:r>
              <a:rPr lang="en-IN" sz="1600" dirty="0">
                <a:latin typeface="Garamond" panose="02020404030301010803" pitchFamily="18" charset="0"/>
              </a:rPr>
              <a:t>Standard protocol used by the NEO-6M GPS module to transmit satellite data, parsed by the ESP32 for real-time location tracking.</a:t>
            </a:r>
          </a:p>
          <a:p>
            <a:pPr marL="342900" indent="-342900">
              <a:spcAft>
                <a:spcPts val="500"/>
              </a:spcAft>
              <a:buFont typeface="+mj-lt"/>
              <a:buAutoNum type="arabicPeriod"/>
            </a:pPr>
            <a:r>
              <a:rPr lang="en-IN" sz="1600" b="1" dirty="0">
                <a:latin typeface="Garamond" panose="02020404030301010803" pitchFamily="18" charset="0"/>
              </a:rPr>
              <a:t>I2C (Inter-Integrated Circuit):</a:t>
            </a:r>
            <a:br>
              <a:rPr lang="en-IN" sz="1600" dirty="0">
                <a:latin typeface="Garamond" panose="02020404030301010803" pitchFamily="18" charset="0"/>
              </a:rPr>
            </a:br>
            <a:r>
              <a:rPr lang="en-IN" sz="1600" dirty="0">
                <a:latin typeface="Garamond" panose="02020404030301010803" pitchFamily="18" charset="0"/>
              </a:rPr>
              <a:t>Communication standard used between the ESP32 and MPU6050 sensor for efficient transfer of accelerometer and gyroscope data.</a:t>
            </a:r>
          </a:p>
          <a:p>
            <a:pPr marL="342900" indent="-342900">
              <a:spcAft>
                <a:spcPts val="500"/>
              </a:spcAft>
              <a:buFont typeface="+mj-lt"/>
              <a:buAutoNum type="arabicPeriod"/>
            </a:pPr>
            <a:r>
              <a:rPr lang="en-IN" sz="1600" b="1" dirty="0">
                <a:latin typeface="Garamond" panose="02020404030301010803" pitchFamily="18" charset="0"/>
              </a:rPr>
              <a:t>I2S (Inter-IC Sound):</a:t>
            </a:r>
            <a:br>
              <a:rPr lang="en-IN" sz="1600" dirty="0">
                <a:latin typeface="Garamond" panose="02020404030301010803" pitchFamily="18" charset="0"/>
              </a:rPr>
            </a:br>
            <a:r>
              <a:rPr lang="en-IN" sz="1600" dirty="0">
                <a:latin typeface="Garamond" panose="02020404030301010803" pitchFamily="18" charset="0"/>
              </a:rPr>
              <a:t>Used to stream digital audio from the ESP32 to the MAX98357A DAC for high-quality audio playback during navigation.</a:t>
            </a:r>
          </a:p>
          <a:p>
            <a:pPr marL="342900" indent="-342900">
              <a:spcAft>
                <a:spcPts val="500"/>
              </a:spcAft>
              <a:buFont typeface="+mj-lt"/>
              <a:buAutoNum type="arabicPeriod"/>
            </a:pPr>
            <a:r>
              <a:rPr lang="en-IN" sz="1600" b="1" dirty="0">
                <a:latin typeface="Garamond" panose="02020404030301010803" pitchFamily="18" charset="0"/>
              </a:rPr>
              <a:t>UART (Universal Asynchronous Receiver-Transmitter):</a:t>
            </a:r>
            <a:br>
              <a:rPr lang="en-IN" sz="1600" dirty="0">
                <a:latin typeface="Garamond" panose="02020404030301010803" pitchFamily="18" charset="0"/>
              </a:rPr>
            </a:br>
            <a:r>
              <a:rPr lang="en-IN" sz="1600" dirty="0">
                <a:latin typeface="Garamond" panose="02020404030301010803" pitchFamily="18" charset="0"/>
              </a:rPr>
              <a:t>Serial communication protocol used between ESP32 and GPS module for receiving NMEA sentences.</a:t>
            </a:r>
          </a:p>
          <a:p>
            <a:pPr marL="342900" indent="-342900">
              <a:buFont typeface="+mj-lt"/>
              <a:buAutoNum type="arabicPeriod"/>
            </a:pPr>
            <a:r>
              <a:rPr lang="en-IN" sz="1600" b="1" dirty="0">
                <a:latin typeface="Garamond" panose="02020404030301010803" pitchFamily="18" charset="0"/>
              </a:rPr>
              <a:t>HTTP (Hypertext Transfer Protocol):</a:t>
            </a:r>
            <a:br>
              <a:rPr lang="en-IN" sz="1600" dirty="0">
                <a:latin typeface="Garamond" panose="02020404030301010803" pitchFamily="18" charset="0"/>
              </a:rPr>
            </a:br>
            <a:r>
              <a:rPr lang="en-IN" sz="1600" dirty="0">
                <a:latin typeface="Garamond" panose="02020404030301010803" pitchFamily="18" charset="0"/>
              </a:rPr>
              <a:t>Used by the ESP32 to securely communicate with Firebase (</a:t>
            </a:r>
            <a:r>
              <a:rPr lang="en-IN" sz="1600" dirty="0" err="1">
                <a:latin typeface="Garamond" panose="02020404030301010803" pitchFamily="18" charset="0"/>
              </a:rPr>
              <a:t>Firestore</a:t>
            </a:r>
            <a:r>
              <a:rPr lang="en-IN" sz="1600" dirty="0">
                <a:latin typeface="Garamond" panose="02020404030301010803" pitchFamily="18" charset="0"/>
              </a:rPr>
              <a:t>, Realtime Database, and Storage) over Wi-Fi.</a:t>
            </a:r>
          </a:p>
          <a:p>
            <a:pPr marR="0" lvl="0" algn="l" defTabSz="914400" rtl="0" eaLnBrk="0" fontAlgn="base" latinLnBrk="0" hangingPunct="0">
              <a:lnSpc>
                <a:spcPct val="100000"/>
              </a:lnSpc>
              <a:spcBef>
                <a:spcPct val="0"/>
              </a:spcBef>
              <a:spcAft>
                <a:spcPct val="0"/>
              </a:spcAft>
              <a:buClrTx/>
              <a:buSzTx/>
              <a:tabLst/>
            </a:pPr>
            <a:endParaRPr kumimoji="0" lang="en-US" altLang="en-US" sz="1500" b="0" i="0" u="none" strike="noStrike" cap="none" normalizeH="0" baseline="0" dirty="0">
              <a:ln>
                <a:noFill/>
              </a:ln>
              <a:solidFill>
                <a:schemeClr val="tx1"/>
              </a:solidFill>
              <a:effectLst/>
              <a:latin typeface="Garamond" panose="02020404030301010803" pitchFamily="18" charset="0"/>
            </a:endParaRPr>
          </a:p>
          <a:p>
            <a:pPr lvl="0" defTabSz="914400" eaLnBrk="0" fontAlgn="base" hangingPunct="0">
              <a:spcBef>
                <a:spcPct val="0"/>
              </a:spcBef>
              <a:spcAft>
                <a:spcPct val="0"/>
              </a:spcAft>
            </a:pPr>
            <a:endParaRPr lang="en-US" altLang="en-US" sz="1500" b="1" dirty="0">
              <a:solidFill>
                <a:srgbClr val="7030A0"/>
              </a:solidFill>
              <a:latin typeface="Garamond" panose="02020404030301010803" pitchFamily="18" charset="0"/>
            </a:endParaRPr>
          </a:p>
          <a:p>
            <a:pPr lvl="0" defTabSz="914400" eaLnBrk="0" fontAlgn="base" hangingPunct="0">
              <a:spcBef>
                <a:spcPct val="0"/>
              </a:spcBef>
              <a:spcAft>
                <a:spcPct val="0"/>
              </a:spcAft>
            </a:pPr>
            <a:endParaRPr lang="en-US" altLang="en-US" sz="1500" b="1" dirty="0">
              <a:solidFill>
                <a:srgbClr val="7030A0"/>
              </a:solidFill>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1" i="0" u="none" strike="noStrike" cap="none" normalizeH="0" baseline="0" dirty="0">
              <a:ln>
                <a:noFill/>
              </a:ln>
              <a:solidFill>
                <a:schemeClr val="accent1"/>
              </a:solidFill>
              <a:effectLst/>
              <a:latin typeface="Garamond" panose="020204040303010108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1" i="0" u="none" strike="noStrike" cap="none" normalizeH="0" baseline="0" dirty="0">
              <a:ln>
                <a:noFill/>
              </a:ln>
              <a:solidFill>
                <a:schemeClr val="accent1"/>
              </a:solidFill>
              <a:effectLst/>
              <a:latin typeface="Garamond" panose="02020404030301010803" pitchFamily="18" charset="0"/>
            </a:endParaRPr>
          </a:p>
          <a:p>
            <a:endParaRPr lang="en-IN" sz="1500" dirty="0">
              <a:effectLst/>
              <a:latin typeface="Garamond" panose="02020404030301010803" pitchFamily="18" charset="0"/>
              <a:ea typeface="Times New Roman" panose="02020603050405020304" pitchFamily="18" charset="0"/>
            </a:endParaRPr>
          </a:p>
          <a:p>
            <a:endParaRPr lang="en-IN" sz="1500" dirty="0">
              <a:latin typeface="Garamond" panose="02020404030301010803" pitchFamily="18" charset="0"/>
            </a:endParaRPr>
          </a:p>
        </p:txBody>
      </p:sp>
      <p:sp>
        <p:nvSpPr>
          <p:cNvPr id="7" name="AutoShape 2">
            <a:extLst>
              <a:ext uri="{FF2B5EF4-FFF2-40B4-BE49-F238E27FC236}">
                <a16:creationId xmlns:a16="http://schemas.microsoft.com/office/drawing/2014/main" id="{9D13F20F-865A-2522-9243-10DAAF8C2D5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1380080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FDB56-B395-8AE8-6794-89A9AFE957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4C87196-2D48-E5A1-4096-D343F06E2D4D}"/>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Conclusion and Future Work</a:t>
            </a:r>
            <a:endParaRPr lang="en-IN" sz="3000" b="1" dirty="0"/>
          </a:p>
        </p:txBody>
      </p:sp>
      <p:sp>
        <p:nvSpPr>
          <p:cNvPr id="7" name="AutoShape 2">
            <a:extLst>
              <a:ext uri="{FF2B5EF4-FFF2-40B4-BE49-F238E27FC236}">
                <a16:creationId xmlns:a16="http://schemas.microsoft.com/office/drawing/2014/main" id="{0B1EAC18-AF5F-E1C4-ACE5-E3F31AA73BF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TextBox 5">
            <a:extLst>
              <a:ext uri="{FF2B5EF4-FFF2-40B4-BE49-F238E27FC236}">
                <a16:creationId xmlns:a16="http://schemas.microsoft.com/office/drawing/2014/main" id="{C88BDF3F-8A6B-8B27-D96C-D1EEDA5BA314}"/>
              </a:ext>
            </a:extLst>
          </p:cNvPr>
          <p:cNvSpPr txBox="1"/>
          <p:nvPr/>
        </p:nvSpPr>
        <p:spPr>
          <a:xfrm>
            <a:off x="708057" y="1262816"/>
            <a:ext cx="7854918" cy="4283224"/>
          </a:xfrm>
          <a:prstGeom prst="rect">
            <a:avLst/>
          </a:prstGeom>
          <a:noFill/>
        </p:spPr>
        <p:txBody>
          <a:bodyPr wrap="square">
            <a:spAutoFit/>
          </a:bodyPr>
          <a:lstStyle/>
          <a:p>
            <a:pPr>
              <a:spcAft>
                <a:spcPts val="700"/>
              </a:spcAft>
              <a:buNone/>
            </a:pPr>
            <a:r>
              <a:rPr lang="en-US" b="1" dirty="0">
                <a:solidFill>
                  <a:srgbClr val="7030A0"/>
                </a:solidFill>
                <a:latin typeface="Garamond" panose="02020404030301010803" pitchFamily="18" charset="0"/>
              </a:rPr>
              <a:t>Conclusion:</a:t>
            </a:r>
            <a:endParaRPr lang="en-US" dirty="0">
              <a:solidFill>
                <a:srgbClr val="7030A0"/>
              </a:solidFill>
              <a:latin typeface="Garamond" panose="02020404030301010803" pitchFamily="18" charset="0"/>
            </a:endParaRPr>
          </a:p>
          <a:p>
            <a:pPr marL="285750" indent="-285750">
              <a:spcAft>
                <a:spcPts val="500"/>
              </a:spcAft>
              <a:buFont typeface="Wingdings" panose="05000000000000000000" pitchFamily="2" charset="2"/>
              <a:buChar char="v"/>
            </a:pPr>
            <a:r>
              <a:rPr lang="en-US" dirty="0">
                <a:latin typeface="Garamond" panose="02020404030301010803" pitchFamily="18" charset="0"/>
              </a:rPr>
              <a:t>The Smart Cane system successfully integrates real-time fall detection, obstacle alert, GPS tracking, and audio-based navigation.</a:t>
            </a:r>
          </a:p>
          <a:p>
            <a:pPr marL="285750" indent="-285750">
              <a:spcAft>
                <a:spcPts val="500"/>
              </a:spcAft>
              <a:buFont typeface="Wingdings" panose="05000000000000000000" pitchFamily="2" charset="2"/>
              <a:buChar char="v"/>
            </a:pPr>
            <a:r>
              <a:rPr lang="en-US" dirty="0">
                <a:latin typeface="Garamond" panose="02020404030301010803" pitchFamily="18" charset="0"/>
              </a:rPr>
              <a:t>Cloud connectivity via Firebase ensures timely data synchronization with the mobile app, keeping caregivers informed.</a:t>
            </a:r>
          </a:p>
          <a:p>
            <a:pPr marL="285750" indent="-285750">
              <a:spcAft>
                <a:spcPts val="1200"/>
              </a:spcAft>
              <a:buFont typeface="Wingdings" panose="05000000000000000000" pitchFamily="2" charset="2"/>
              <a:buChar char="v"/>
            </a:pPr>
            <a:r>
              <a:rPr lang="en-US" dirty="0">
                <a:latin typeface="Garamond" panose="02020404030301010803" pitchFamily="18" charset="0"/>
              </a:rPr>
              <a:t>The system enhances the safety, awareness, and mobility of visually impaired users in outdoor environments.</a:t>
            </a:r>
          </a:p>
          <a:p>
            <a:pPr>
              <a:spcAft>
                <a:spcPts val="700"/>
              </a:spcAft>
              <a:buNone/>
            </a:pPr>
            <a:r>
              <a:rPr lang="en-US" b="1" dirty="0">
                <a:solidFill>
                  <a:srgbClr val="7030A0"/>
                </a:solidFill>
                <a:latin typeface="Garamond" panose="02020404030301010803" pitchFamily="18" charset="0"/>
              </a:rPr>
              <a:t>Future Work:</a:t>
            </a:r>
            <a:endParaRPr lang="en-US" dirty="0">
              <a:solidFill>
                <a:srgbClr val="7030A0"/>
              </a:solidFill>
              <a:latin typeface="Garamond" panose="02020404030301010803" pitchFamily="18" charset="0"/>
            </a:endParaRPr>
          </a:p>
          <a:p>
            <a:pPr marL="285750" indent="-285750">
              <a:spcAft>
                <a:spcPts val="500"/>
              </a:spcAft>
              <a:buFont typeface="Wingdings" panose="05000000000000000000" pitchFamily="2" charset="2"/>
              <a:buChar char="v"/>
            </a:pPr>
            <a:r>
              <a:rPr lang="en-US" dirty="0">
                <a:latin typeface="Garamond" panose="02020404030301010803" pitchFamily="18" charset="0"/>
              </a:rPr>
              <a:t>Develop a compact, attachable casing for better portability and protection.</a:t>
            </a:r>
          </a:p>
          <a:p>
            <a:pPr marL="285750" indent="-285750">
              <a:buFont typeface="Wingdings" panose="05000000000000000000" pitchFamily="2" charset="2"/>
              <a:buChar char="v"/>
            </a:pPr>
            <a:r>
              <a:rPr lang="en-US" dirty="0">
                <a:latin typeface="Garamond" panose="02020404030301010803" pitchFamily="18" charset="0"/>
              </a:rPr>
              <a:t>Improve audio clarity using a mini amplifier and high-power speaker.</a:t>
            </a:r>
          </a:p>
          <a:p>
            <a:pPr marL="285750" indent="-285750">
              <a:spcAft>
                <a:spcPts val="500"/>
              </a:spcAft>
              <a:buFont typeface="Wingdings" panose="05000000000000000000" pitchFamily="2" charset="2"/>
              <a:buChar char="v"/>
            </a:pPr>
            <a:r>
              <a:rPr lang="en-US" dirty="0">
                <a:latin typeface="Garamond" panose="02020404030301010803" pitchFamily="18" charset="0"/>
              </a:rPr>
              <a:t>Integrate deep learning models for object recognition and intelligent fall prediction.</a:t>
            </a:r>
          </a:p>
          <a:p>
            <a:pPr marL="285750" indent="-285750">
              <a:spcAft>
                <a:spcPts val="500"/>
              </a:spcAft>
              <a:buFont typeface="Wingdings" panose="05000000000000000000" pitchFamily="2" charset="2"/>
              <a:buChar char="v"/>
            </a:pPr>
            <a:r>
              <a:rPr lang="en-US" dirty="0">
                <a:latin typeface="Garamond" panose="02020404030301010803" pitchFamily="18" charset="0"/>
              </a:rPr>
              <a:t>Add a vision module or LiDAR for object classification and enhanced obstacle detection.</a:t>
            </a:r>
          </a:p>
        </p:txBody>
      </p:sp>
    </p:spTree>
    <p:extLst>
      <p:ext uri="{BB962C8B-B14F-4D97-AF65-F5344CB8AC3E}">
        <p14:creationId xmlns:p14="http://schemas.microsoft.com/office/powerpoint/2010/main" val="11634485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F8676-69C4-C07B-AEF0-E276DACAE2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921BFD7-023F-4023-A49B-260C897718A4}"/>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References</a:t>
            </a:r>
            <a:endParaRPr lang="en-IN" sz="3000" b="1" dirty="0"/>
          </a:p>
        </p:txBody>
      </p:sp>
      <p:sp>
        <p:nvSpPr>
          <p:cNvPr id="7" name="AutoShape 2">
            <a:extLst>
              <a:ext uri="{FF2B5EF4-FFF2-40B4-BE49-F238E27FC236}">
                <a16:creationId xmlns:a16="http://schemas.microsoft.com/office/drawing/2014/main" id="{4FEC36E2-07A5-3B49-9D06-7460BE5272E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TextBox 5">
            <a:extLst>
              <a:ext uri="{FF2B5EF4-FFF2-40B4-BE49-F238E27FC236}">
                <a16:creationId xmlns:a16="http://schemas.microsoft.com/office/drawing/2014/main" id="{0C4D7778-26E5-8C7D-324F-343284C9AF50}"/>
              </a:ext>
            </a:extLst>
          </p:cNvPr>
          <p:cNvSpPr txBox="1"/>
          <p:nvPr/>
        </p:nvSpPr>
        <p:spPr>
          <a:xfrm>
            <a:off x="708057" y="1088329"/>
            <a:ext cx="11226768" cy="5231240"/>
          </a:xfrm>
          <a:prstGeom prst="rect">
            <a:avLst/>
          </a:prstGeom>
          <a:noFill/>
        </p:spPr>
        <p:txBody>
          <a:bodyPr wrap="square">
            <a:spAutoFit/>
          </a:bodyPr>
          <a:lstStyle/>
          <a:p>
            <a:pPr marL="342900" marR="910590" lvl="0" indent="-342900">
              <a:lnSpc>
                <a:spcPct val="112000"/>
              </a:lnSpc>
              <a:spcBef>
                <a:spcPts val="895"/>
              </a:spcBef>
              <a:buSzPts val="1100"/>
              <a:buFont typeface="LM Roman 10"/>
              <a:buAutoNum type="arabicPeriod"/>
              <a:tabLst>
                <a:tab pos="589280" algn="l"/>
              </a:tabLst>
            </a:pPr>
            <a:r>
              <a:rPr lang="en-US" sz="1100" spc="0" dirty="0">
                <a:effectLst/>
                <a:latin typeface="Times New Roman" panose="02020603050405020304" pitchFamily="18" charset="0"/>
                <a:ea typeface="LM Roman 10"/>
                <a:cs typeface="LM Roman 10"/>
              </a:rPr>
              <a:t>S. F. Sibu, B. S. Kumar, A. T. Joseph, K. J. Raina, V. P. Joseph and T. Thomas, "CNN based Smart Cane: A tool for Visually Impaired People," 2023 9th International Conference on Smart Computing and Communications (ICSCC), Kochi, Kerala, India, 2023, pp. 126-131, </a:t>
            </a:r>
            <a:r>
              <a:rPr lang="en-US" sz="1100" spc="0" dirty="0" err="1">
                <a:effectLst/>
                <a:latin typeface="Times New Roman" panose="02020603050405020304" pitchFamily="18" charset="0"/>
                <a:ea typeface="LM Roman 10"/>
                <a:cs typeface="LM Roman 10"/>
              </a:rPr>
              <a:t>doi</a:t>
            </a:r>
            <a:r>
              <a:rPr lang="en-US" sz="1100" spc="0" dirty="0">
                <a:effectLst/>
                <a:latin typeface="Times New Roman" panose="02020603050405020304" pitchFamily="18" charset="0"/>
                <a:ea typeface="LM Roman 10"/>
                <a:cs typeface="LM Roman 10"/>
              </a:rPr>
              <a:t>: 10.1109/ICSCC59169.2023.10334996.</a:t>
            </a:r>
            <a:endParaRPr lang="en-IN" sz="1100" spc="0" dirty="0">
              <a:effectLst/>
              <a:latin typeface="LM Roman 10"/>
              <a:ea typeface="LM Roman 10"/>
              <a:cs typeface="LM Roman 10"/>
            </a:endParaRPr>
          </a:p>
          <a:p>
            <a:pPr marL="342900" marR="910590" lvl="0" indent="-342900">
              <a:lnSpc>
                <a:spcPct val="112000"/>
              </a:lnSpc>
              <a:spcBef>
                <a:spcPts val="895"/>
              </a:spcBef>
              <a:buSzPts val="1100"/>
              <a:buFont typeface="LM Roman 10"/>
              <a:buAutoNum type="arabicPeriod"/>
              <a:tabLst>
                <a:tab pos="589280" algn="l"/>
              </a:tabLst>
            </a:pPr>
            <a:r>
              <a:rPr lang="en-US" sz="1100" spc="-10" dirty="0">
                <a:effectLst/>
                <a:latin typeface="Times New Roman" panose="02020603050405020304" pitchFamily="18" charset="0"/>
                <a:ea typeface="LM Roman 10"/>
                <a:cs typeface="LM Roman 10"/>
              </a:rPr>
              <a:t>S. Khan, S. Nazir and H. U. Khan, "Analysis of Navigation Assistants for Blind and Visually Impaired People: A Systematic Review," in IEEE Access, vol. 9, pp. 26712-26734, 2021, </a:t>
            </a:r>
            <a:r>
              <a:rPr lang="en-US" sz="1100" spc="-10" dirty="0" err="1">
                <a:effectLst/>
                <a:latin typeface="Times New Roman" panose="02020603050405020304" pitchFamily="18" charset="0"/>
                <a:ea typeface="LM Roman 10"/>
                <a:cs typeface="LM Roman 10"/>
              </a:rPr>
              <a:t>doi</a:t>
            </a:r>
            <a:r>
              <a:rPr lang="en-US" sz="1100" spc="-10" dirty="0">
                <a:effectLst/>
                <a:latin typeface="Times New Roman" panose="02020603050405020304" pitchFamily="18" charset="0"/>
                <a:ea typeface="LM Roman 10"/>
                <a:cs typeface="LM Roman 10"/>
              </a:rPr>
              <a:t>: 10.1109/ACCESS.2021.3052415.</a:t>
            </a:r>
            <a:endParaRPr lang="en-IN" sz="1100" spc="0" dirty="0">
              <a:effectLst/>
              <a:latin typeface="LM Roman 10"/>
              <a:ea typeface="LM Roman 10"/>
              <a:cs typeface="LM Roman 10"/>
            </a:endParaRPr>
          </a:p>
          <a:p>
            <a:pPr marL="342900" marR="910590" lvl="0" indent="-342900">
              <a:lnSpc>
                <a:spcPct val="112000"/>
              </a:lnSpc>
              <a:spcBef>
                <a:spcPts val="900"/>
              </a:spcBef>
              <a:buSzPts val="1100"/>
              <a:buFont typeface="LM Roman 10"/>
              <a:buAutoNum type="arabicPeriod"/>
              <a:tabLst>
                <a:tab pos="589280" algn="l"/>
              </a:tabLst>
            </a:pPr>
            <a:r>
              <a:rPr lang="en-US" sz="1100" spc="0" dirty="0">
                <a:effectLst/>
                <a:latin typeface="Times New Roman" panose="02020603050405020304" pitchFamily="18" charset="0"/>
                <a:ea typeface="LM Roman 10"/>
                <a:cs typeface="LM Roman 10"/>
              </a:rPr>
              <a:t>K. </a:t>
            </a:r>
            <a:r>
              <a:rPr lang="en-US" sz="1100" spc="0" dirty="0" err="1">
                <a:effectLst/>
                <a:latin typeface="Times New Roman" panose="02020603050405020304" pitchFamily="18" charset="0"/>
                <a:ea typeface="LM Roman 10"/>
                <a:cs typeface="LM Roman 10"/>
              </a:rPr>
              <a:t>Jivrajani</a:t>
            </a:r>
            <a:r>
              <a:rPr lang="en-US" sz="1100" spc="0" dirty="0">
                <a:effectLst/>
                <a:latin typeface="Times New Roman" panose="02020603050405020304" pitchFamily="18" charset="0"/>
                <a:ea typeface="LM Roman 10"/>
                <a:cs typeface="LM Roman 10"/>
              </a:rPr>
              <a:t> et al., "</a:t>
            </a:r>
            <a:r>
              <a:rPr lang="en-US" sz="1100" spc="0" dirty="0" err="1">
                <a:effectLst/>
                <a:latin typeface="Times New Roman" panose="02020603050405020304" pitchFamily="18" charset="0"/>
                <a:ea typeface="LM Roman 10"/>
                <a:cs typeface="LM Roman 10"/>
              </a:rPr>
              <a:t>AIoT</a:t>
            </a:r>
            <a:r>
              <a:rPr lang="en-US" sz="1100" spc="0" dirty="0">
                <a:effectLst/>
                <a:latin typeface="Times New Roman" panose="02020603050405020304" pitchFamily="18" charset="0"/>
                <a:ea typeface="LM Roman 10"/>
                <a:cs typeface="LM Roman 10"/>
              </a:rPr>
              <a:t>-Based Smart Stick for Visually Impaired Person," in IEEE Transactions on Instrumentation and Measurement, vol. 72, pp. 1-11, 2023, Art no. 2501311, </a:t>
            </a:r>
            <a:r>
              <a:rPr lang="en-US" sz="1100" spc="0" dirty="0" err="1">
                <a:effectLst/>
                <a:latin typeface="Times New Roman" panose="02020603050405020304" pitchFamily="18" charset="0"/>
                <a:ea typeface="LM Roman 10"/>
                <a:cs typeface="LM Roman 10"/>
              </a:rPr>
              <a:t>doi</a:t>
            </a:r>
            <a:r>
              <a:rPr lang="en-US" sz="1100" spc="0" dirty="0">
                <a:effectLst/>
                <a:latin typeface="Times New Roman" panose="02020603050405020304" pitchFamily="18" charset="0"/>
                <a:ea typeface="LM Roman 10"/>
                <a:cs typeface="LM Roman 10"/>
              </a:rPr>
              <a:t>: 10.1109/TIM.2022.3227988.</a:t>
            </a:r>
            <a:endParaRPr lang="en-IN" sz="1100" spc="0" dirty="0">
              <a:effectLst/>
              <a:latin typeface="LM Roman 10"/>
              <a:ea typeface="LM Roman 10"/>
              <a:cs typeface="LM Roman 10"/>
            </a:endParaRPr>
          </a:p>
          <a:p>
            <a:pPr marL="342900" marR="911225" lvl="0" indent="-342900">
              <a:lnSpc>
                <a:spcPct val="112000"/>
              </a:lnSpc>
              <a:spcBef>
                <a:spcPts val="895"/>
              </a:spcBef>
              <a:buSzPts val="1100"/>
              <a:buFont typeface="LM Roman 10"/>
              <a:buAutoNum type="arabicPeriod"/>
              <a:tabLst>
                <a:tab pos="589280" algn="l"/>
              </a:tabLst>
            </a:pPr>
            <a:r>
              <a:rPr lang="en-US" sz="1100" spc="0" dirty="0">
                <a:effectLst/>
                <a:latin typeface="Times New Roman" panose="02020603050405020304" pitchFamily="18" charset="0"/>
                <a:ea typeface="LM Roman 10"/>
                <a:cs typeface="LM Roman 10"/>
              </a:rPr>
              <a:t>W. -J. Chang, L. -B. Chen, C. -Y. Sie and C. -H. Yang, "An Artificial Intelligence Edge Computing-Based Assistive System for Visually Impaired Pedestrian Safety at Zebra Crossings," in IEEE Transactions on Consumer Electronics, vol. 67, no. 1, pp. 3-11, Feb. 2021, </a:t>
            </a:r>
            <a:r>
              <a:rPr lang="en-US" sz="1100" spc="0" dirty="0" err="1">
                <a:effectLst/>
                <a:latin typeface="Times New Roman" panose="02020603050405020304" pitchFamily="18" charset="0"/>
                <a:ea typeface="LM Roman 10"/>
                <a:cs typeface="LM Roman 10"/>
              </a:rPr>
              <a:t>doi</a:t>
            </a:r>
            <a:r>
              <a:rPr lang="en-US" sz="1100" spc="0" dirty="0">
                <a:effectLst/>
                <a:latin typeface="Times New Roman" panose="02020603050405020304" pitchFamily="18" charset="0"/>
                <a:ea typeface="LM Roman 10"/>
                <a:cs typeface="LM Roman 10"/>
              </a:rPr>
              <a:t>: 10.1109/TCE.2020.3037065.</a:t>
            </a:r>
            <a:endParaRPr lang="en-IN" sz="1100" spc="0" dirty="0">
              <a:effectLst/>
              <a:latin typeface="LM Roman 10"/>
              <a:ea typeface="LM Roman 10"/>
              <a:cs typeface="LM Roman 10"/>
            </a:endParaRPr>
          </a:p>
          <a:p>
            <a:pPr marL="342900" marR="911860" lvl="0" indent="-342900">
              <a:lnSpc>
                <a:spcPct val="112000"/>
              </a:lnSpc>
              <a:spcBef>
                <a:spcPts val="900"/>
              </a:spcBef>
              <a:buSzPts val="1100"/>
              <a:buFont typeface="LM Roman 10"/>
              <a:buAutoNum type="arabicPeriod"/>
              <a:tabLst>
                <a:tab pos="589280" algn="l"/>
              </a:tabLst>
            </a:pPr>
            <a:r>
              <a:rPr lang="en-US" sz="1100" spc="0" dirty="0">
                <a:effectLst/>
                <a:latin typeface="Times New Roman" panose="02020603050405020304" pitchFamily="18" charset="0"/>
                <a:ea typeface="LM Roman 10"/>
                <a:cs typeface="LM Roman 10"/>
              </a:rPr>
              <a:t>T. Lavanya Narayani., M. </a:t>
            </a:r>
            <a:r>
              <a:rPr lang="en-US" sz="1100" spc="0" dirty="0" err="1">
                <a:effectLst/>
                <a:latin typeface="Times New Roman" panose="02020603050405020304" pitchFamily="18" charset="0"/>
                <a:ea typeface="LM Roman 10"/>
                <a:cs typeface="LM Roman 10"/>
              </a:rPr>
              <a:t>Sivapalanirajan</a:t>
            </a:r>
            <a:r>
              <a:rPr lang="en-US" sz="1100" spc="0" dirty="0">
                <a:effectLst/>
                <a:latin typeface="Times New Roman" panose="02020603050405020304" pitchFamily="18" charset="0"/>
                <a:ea typeface="LM Roman 10"/>
                <a:cs typeface="LM Roman 10"/>
              </a:rPr>
              <a:t>., B. Keerthika., M. Ananthi. and M. </a:t>
            </a:r>
            <a:r>
              <a:rPr lang="en-US" sz="1100" spc="0" dirty="0" err="1">
                <a:effectLst/>
                <a:latin typeface="Times New Roman" panose="02020603050405020304" pitchFamily="18" charset="0"/>
                <a:ea typeface="LM Roman 10"/>
                <a:cs typeface="LM Roman 10"/>
              </a:rPr>
              <a:t>Arunarani</a:t>
            </a:r>
            <a:r>
              <a:rPr lang="en-US" sz="1100" spc="0" dirty="0">
                <a:effectLst/>
                <a:latin typeface="Times New Roman" panose="02020603050405020304" pitchFamily="18" charset="0"/>
                <a:ea typeface="LM Roman 10"/>
                <a:cs typeface="LM Roman 10"/>
              </a:rPr>
              <a:t>., "Design of Smart Cane with integrated camera module for visually impaired people," 2021 International Conference on Artificial Intelligence and Smart Systems (ICAIS), Coimbatore, India, 2021, pp. 999-1004, </a:t>
            </a:r>
            <a:r>
              <a:rPr lang="en-US" sz="1100" spc="0" dirty="0" err="1">
                <a:effectLst/>
                <a:latin typeface="Times New Roman" panose="02020603050405020304" pitchFamily="18" charset="0"/>
                <a:ea typeface="LM Roman 10"/>
                <a:cs typeface="LM Roman 10"/>
              </a:rPr>
              <a:t>doi</a:t>
            </a:r>
            <a:r>
              <a:rPr lang="en-US" sz="1100" spc="0" dirty="0">
                <a:effectLst/>
                <a:latin typeface="Times New Roman" panose="02020603050405020304" pitchFamily="18" charset="0"/>
                <a:ea typeface="LM Roman 10"/>
                <a:cs typeface="LM Roman 10"/>
              </a:rPr>
              <a:t>: 10.1109/ICAIS50930.2021.9395840.</a:t>
            </a:r>
          </a:p>
          <a:p>
            <a:pPr marL="342900" marR="911225" lvl="0" indent="-342900">
              <a:spcBef>
                <a:spcPts val="895"/>
              </a:spcBef>
              <a:buSzPts val="1100"/>
              <a:buFont typeface="LM Roman 10"/>
              <a:buAutoNum type="arabicPeriod"/>
            </a:pPr>
            <a:r>
              <a:rPr lang="en-US" sz="1100" spc="-10" dirty="0">
                <a:effectLst/>
                <a:latin typeface="Times New Roman" panose="02020603050405020304" pitchFamily="18" charset="0"/>
                <a:ea typeface="LM Roman 10"/>
                <a:cs typeface="LM Roman 10"/>
              </a:rPr>
              <a:t>T. P. Viet, B. N. Minh, T. T. Van, H. T. Manh, N. D. Tan and P. N. Huu, "Smart Stick Detecting Obstacles Early Using Random Forest Algorithm," 2024 4th International Conference of Science and Information Technology in Smart Administration (ICSINTESA), Balikpapan, Indonesia, 2024, pp. 720-724, </a:t>
            </a:r>
            <a:r>
              <a:rPr lang="en-US" sz="1100" spc="-10" dirty="0" err="1">
                <a:effectLst/>
                <a:latin typeface="Times New Roman" panose="02020603050405020304" pitchFamily="18" charset="0"/>
                <a:ea typeface="LM Roman 10"/>
                <a:cs typeface="LM Roman 10"/>
              </a:rPr>
              <a:t>doi</a:t>
            </a:r>
            <a:r>
              <a:rPr lang="en-US" sz="1100" spc="-10" dirty="0">
                <a:effectLst/>
                <a:latin typeface="Times New Roman" panose="02020603050405020304" pitchFamily="18" charset="0"/>
                <a:ea typeface="LM Roman 10"/>
                <a:cs typeface="LM Roman 10"/>
              </a:rPr>
              <a:t>: 10.1109/ICSINTESA62455.2024.10748104.</a:t>
            </a:r>
            <a:endParaRPr lang="en-IN" sz="1100" spc="0" dirty="0">
              <a:effectLst/>
              <a:latin typeface="LM Roman 10"/>
              <a:ea typeface="LM Roman 10"/>
              <a:cs typeface="LM Roman 10"/>
            </a:endParaRPr>
          </a:p>
          <a:p>
            <a:pPr marL="342900" marR="911860" lvl="0" indent="-342900">
              <a:lnSpc>
                <a:spcPct val="112000"/>
              </a:lnSpc>
              <a:spcBef>
                <a:spcPts val="900"/>
              </a:spcBef>
              <a:buSzPts val="1100"/>
              <a:buFont typeface="LM Roman 10"/>
              <a:buAutoNum type="arabicPeriod"/>
              <a:tabLst>
                <a:tab pos="589280" algn="l"/>
              </a:tabLst>
            </a:pPr>
            <a:r>
              <a:rPr lang="en-US" sz="1100" spc="0" dirty="0">
                <a:effectLst/>
                <a:latin typeface="Times New Roman" panose="02020603050405020304" pitchFamily="18" charset="0"/>
                <a:ea typeface="LM Roman 10"/>
                <a:cs typeface="LM Roman 10"/>
              </a:rPr>
              <a:t>R. </a:t>
            </a:r>
            <a:r>
              <a:rPr lang="en-US" sz="1100" spc="0" dirty="0" err="1">
                <a:effectLst/>
                <a:latin typeface="Times New Roman" panose="02020603050405020304" pitchFamily="18" charset="0"/>
                <a:ea typeface="LM Roman 10"/>
                <a:cs typeface="LM Roman 10"/>
              </a:rPr>
              <a:t>Ghatkamble</a:t>
            </a:r>
            <a:r>
              <a:rPr lang="en-US" sz="1100" spc="0" dirty="0">
                <a:effectLst/>
                <a:latin typeface="Times New Roman" panose="02020603050405020304" pitchFamily="18" charset="0"/>
                <a:ea typeface="LM Roman 10"/>
                <a:cs typeface="LM Roman 10"/>
              </a:rPr>
              <a:t>, K. Ratish Kumar, S. John Hrithik, J. Harshith Kumar and P. S. Sujan, "Computer Vision and IoT-Based Smart System for Visually Impaired People," 2023 International Conference on Artificial Intelligence and Applications (ICAIA) Alliance Technology Conference (ATCON-1), Bangalore, India, 2023, pp. 1-5, </a:t>
            </a:r>
            <a:r>
              <a:rPr lang="en-US" sz="1100" spc="0" dirty="0" err="1">
                <a:effectLst/>
                <a:latin typeface="Times New Roman" panose="02020603050405020304" pitchFamily="18" charset="0"/>
                <a:ea typeface="LM Roman 10"/>
                <a:cs typeface="LM Roman 10"/>
              </a:rPr>
              <a:t>doi</a:t>
            </a:r>
            <a:r>
              <a:rPr lang="en-US" sz="1100" spc="0" dirty="0">
                <a:effectLst/>
                <a:latin typeface="Times New Roman" panose="02020603050405020304" pitchFamily="18" charset="0"/>
                <a:ea typeface="LM Roman 10"/>
                <a:cs typeface="LM Roman 10"/>
              </a:rPr>
              <a:t>: 10.1109/ICAIA57370.2023.10169589.</a:t>
            </a:r>
            <a:endParaRPr lang="en-IN" sz="1100" spc="0" dirty="0">
              <a:effectLst/>
              <a:latin typeface="LM Roman 10"/>
              <a:ea typeface="LM Roman 10"/>
              <a:cs typeface="LM Roman 10"/>
            </a:endParaRPr>
          </a:p>
          <a:p>
            <a:pPr marL="342900" marR="911860" lvl="0" indent="-342900">
              <a:lnSpc>
                <a:spcPct val="112000"/>
              </a:lnSpc>
              <a:spcBef>
                <a:spcPts val="900"/>
              </a:spcBef>
              <a:buSzPts val="1100"/>
              <a:buFont typeface="LM Roman 10"/>
              <a:buAutoNum type="arabicPeriod"/>
              <a:tabLst>
                <a:tab pos="589280" algn="l"/>
              </a:tabLst>
            </a:pPr>
            <a:r>
              <a:rPr lang="en-US" sz="1100" spc="0" dirty="0">
                <a:effectLst/>
                <a:latin typeface="Times New Roman" panose="02020603050405020304" pitchFamily="18" charset="0"/>
                <a:ea typeface="LM Roman 10"/>
                <a:cs typeface="LM Roman 10"/>
              </a:rPr>
              <a:t>A. </a:t>
            </a:r>
            <a:r>
              <a:rPr lang="en-US" sz="1100" spc="0" dirty="0" err="1">
                <a:effectLst/>
                <a:latin typeface="Times New Roman" panose="02020603050405020304" pitchFamily="18" charset="0"/>
                <a:ea typeface="LM Roman 10"/>
                <a:cs typeface="LM Roman 10"/>
              </a:rPr>
              <a:t>Supekar</a:t>
            </a:r>
            <a:r>
              <a:rPr lang="en-US" sz="1100" spc="0" dirty="0">
                <a:effectLst/>
                <a:latin typeface="Times New Roman" panose="02020603050405020304" pitchFamily="18" charset="0"/>
                <a:ea typeface="LM Roman 10"/>
                <a:cs typeface="LM Roman 10"/>
              </a:rPr>
              <a:t> and S. Patil, "Design and Development of Portable Navigation System for Disabled Person using Image, Text and Audio," 2022 IEEE Delhi Section Conference (DELCON), New Delhi, India, 2022, pp. 1-4, </a:t>
            </a:r>
            <a:r>
              <a:rPr lang="en-US" sz="1100" spc="0" dirty="0" err="1">
                <a:effectLst/>
                <a:latin typeface="Times New Roman" panose="02020603050405020304" pitchFamily="18" charset="0"/>
                <a:ea typeface="LM Roman 10"/>
                <a:cs typeface="LM Roman 10"/>
              </a:rPr>
              <a:t>doi</a:t>
            </a:r>
            <a:r>
              <a:rPr lang="en-US" sz="1100" spc="0" dirty="0">
                <a:effectLst/>
                <a:latin typeface="Times New Roman" panose="02020603050405020304" pitchFamily="18" charset="0"/>
                <a:ea typeface="LM Roman 10"/>
                <a:cs typeface="LM Roman 10"/>
              </a:rPr>
              <a:t>: 10.1109/DELCON54057.2022.9753410.</a:t>
            </a:r>
            <a:endParaRPr lang="en-IN" sz="1100" spc="0" dirty="0">
              <a:effectLst/>
              <a:latin typeface="LM Roman 10"/>
              <a:ea typeface="LM Roman 10"/>
              <a:cs typeface="LM Roman 10"/>
            </a:endParaRPr>
          </a:p>
          <a:p>
            <a:pPr marL="342900" marR="911860" lvl="0" indent="-342900">
              <a:lnSpc>
                <a:spcPct val="112000"/>
              </a:lnSpc>
              <a:spcBef>
                <a:spcPts val="900"/>
              </a:spcBef>
              <a:buSzPts val="1100"/>
              <a:buFont typeface="LM Roman 10"/>
              <a:buAutoNum type="arabicPeriod"/>
              <a:tabLst>
                <a:tab pos="589280" algn="l"/>
              </a:tabLst>
            </a:pPr>
            <a:r>
              <a:rPr lang="en-US" sz="1100" spc="0" dirty="0">
                <a:effectLst/>
                <a:latin typeface="Times New Roman" panose="02020603050405020304" pitchFamily="18" charset="0"/>
                <a:ea typeface="LM Roman 10"/>
                <a:cs typeface="LM Roman 10"/>
              </a:rPr>
              <a:t>S. Zafar et al., "Advancement in Smart Cane Technology: Enhancing Mobility for the Visually Impaired Using ROS and LiDAR," 2024 International Conference on Robotics and Automation in Industry (ICRAI), Rawalpindi, Pakistan, 2024, pp. 1-6, </a:t>
            </a:r>
            <a:r>
              <a:rPr lang="en-US" sz="1100" spc="0" dirty="0" err="1">
                <a:effectLst/>
                <a:latin typeface="Times New Roman" panose="02020603050405020304" pitchFamily="18" charset="0"/>
                <a:ea typeface="LM Roman 10"/>
                <a:cs typeface="LM Roman 10"/>
              </a:rPr>
              <a:t>doi</a:t>
            </a:r>
            <a:r>
              <a:rPr lang="en-US" sz="1100" spc="0" dirty="0">
                <a:effectLst/>
                <a:latin typeface="Times New Roman" panose="02020603050405020304" pitchFamily="18" charset="0"/>
                <a:ea typeface="LM Roman 10"/>
                <a:cs typeface="LM Roman 10"/>
              </a:rPr>
              <a:t>: 10.1109/ICRAI62391.2024.10893984.</a:t>
            </a:r>
            <a:endParaRPr lang="en-IN" sz="1100" spc="0" dirty="0">
              <a:effectLst/>
              <a:latin typeface="LM Roman 10"/>
              <a:ea typeface="LM Roman 10"/>
              <a:cs typeface="LM Roman 10"/>
            </a:endParaRPr>
          </a:p>
          <a:p>
            <a:pPr marL="342900" marR="911860" lvl="0" indent="-342900">
              <a:lnSpc>
                <a:spcPct val="112000"/>
              </a:lnSpc>
              <a:spcBef>
                <a:spcPts val="900"/>
              </a:spcBef>
              <a:buSzPts val="1100"/>
              <a:buFont typeface="LM Roman 10"/>
              <a:buAutoNum type="arabicPeriod"/>
              <a:tabLst>
                <a:tab pos="589280" algn="l"/>
              </a:tabLst>
            </a:pPr>
            <a:endParaRPr lang="en-IN" sz="1100" spc="0" dirty="0">
              <a:effectLst/>
              <a:latin typeface="LM Roman 10"/>
              <a:ea typeface="LM Roman 10"/>
              <a:cs typeface="LM Roman 10"/>
            </a:endParaRPr>
          </a:p>
        </p:txBody>
      </p:sp>
    </p:spTree>
    <p:extLst>
      <p:ext uri="{BB962C8B-B14F-4D97-AF65-F5344CB8AC3E}">
        <p14:creationId xmlns:p14="http://schemas.microsoft.com/office/powerpoint/2010/main" val="34397968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3DEEA-6DDF-C358-C51F-4C6AB8FA48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F3F6D0-5778-A57D-6ABD-C080DBBB5B69}"/>
              </a:ext>
            </a:extLst>
          </p:cNvPr>
          <p:cNvSpPr txBox="1"/>
          <p:nvPr/>
        </p:nvSpPr>
        <p:spPr>
          <a:xfrm>
            <a:off x="1239099" y="2865149"/>
            <a:ext cx="10418652" cy="584775"/>
          </a:xfrm>
          <a:prstGeom prst="rect">
            <a:avLst/>
          </a:prstGeom>
          <a:noFill/>
        </p:spPr>
        <p:txBody>
          <a:bodyPr wrap="square">
            <a:spAutoFit/>
          </a:bodyPr>
          <a:lstStyle/>
          <a:p>
            <a:r>
              <a:rPr lang="en-IN" sz="3200" b="1" dirty="0">
                <a:solidFill>
                  <a:schemeClr val="accent1"/>
                </a:solidFill>
                <a:latin typeface="Garamond" panose="02020404030301010803" pitchFamily="18" charset="0"/>
              </a:rPr>
              <a:t>Poster</a:t>
            </a:r>
            <a:endParaRPr lang="en-IN" sz="3200" b="1" dirty="0"/>
          </a:p>
        </p:txBody>
      </p:sp>
      <p:sp>
        <p:nvSpPr>
          <p:cNvPr id="7" name="AutoShape 2">
            <a:extLst>
              <a:ext uri="{FF2B5EF4-FFF2-40B4-BE49-F238E27FC236}">
                <a16:creationId xmlns:a16="http://schemas.microsoft.com/office/drawing/2014/main" id="{D4E3A994-8C38-FA40-C65C-4416600DCB9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descr="A close-up of a poster&#10;&#10;AI-generated content may be incorrect.">
            <a:extLst>
              <a:ext uri="{FF2B5EF4-FFF2-40B4-BE49-F238E27FC236}">
                <a16:creationId xmlns:a16="http://schemas.microsoft.com/office/drawing/2014/main" id="{2BF2B3B3-D43F-0501-252D-59A9E28F27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6996" y="3503"/>
            <a:ext cx="8605697" cy="6308065"/>
          </a:xfrm>
          <a:prstGeom prst="rect">
            <a:avLst/>
          </a:prstGeom>
        </p:spPr>
      </p:pic>
    </p:spTree>
    <p:extLst>
      <p:ext uri="{BB962C8B-B14F-4D97-AF65-F5344CB8AC3E}">
        <p14:creationId xmlns:p14="http://schemas.microsoft.com/office/powerpoint/2010/main" val="3563396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291A81-576E-1F0B-10B5-13B506AD82E2}"/>
              </a:ext>
            </a:extLst>
          </p:cNvPr>
          <p:cNvSpPr txBox="1"/>
          <p:nvPr/>
        </p:nvSpPr>
        <p:spPr>
          <a:xfrm>
            <a:off x="4546113" y="2853837"/>
            <a:ext cx="3104660"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200" dirty="0">
                <a:solidFill>
                  <a:srgbClr val="7030A0"/>
                </a:solidFill>
                <a:latin typeface="Garamond"/>
                <a:cs typeface="Calibri"/>
              </a:rPr>
              <a:t>Thank You</a:t>
            </a:r>
            <a:endParaRPr lang="en-US" sz="5200" dirty="0">
              <a:solidFill>
                <a:srgbClr val="7030A0"/>
              </a:solidFill>
              <a:latin typeface="Garamond"/>
            </a:endParaRPr>
          </a:p>
        </p:txBody>
      </p:sp>
    </p:spTree>
    <p:extLst>
      <p:ext uri="{BB962C8B-B14F-4D97-AF65-F5344CB8AC3E}">
        <p14:creationId xmlns:p14="http://schemas.microsoft.com/office/powerpoint/2010/main" val="606364100"/>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2951</TotalTime>
  <Words>3397</Words>
  <Application>Microsoft Office PowerPoint</Application>
  <PresentationFormat>Widescreen</PresentationFormat>
  <Paragraphs>289</Paragraphs>
  <Slides>30</Slides>
  <Notes>0</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Calibri</vt:lpstr>
      <vt:lpstr>Calibri Light</vt:lpstr>
      <vt:lpstr>Garamond</vt:lpstr>
      <vt:lpstr>LM Roman 10</vt:lpstr>
      <vt:lpstr>Roboto</vt:lpstr>
      <vt:lpstr>Times New Roman</vt:lpstr>
      <vt:lpstr>Wingdings</vt:lpstr>
      <vt:lpstr>Retrospect</vt:lpstr>
      <vt:lpstr>                                         Smart Cane for Visually Impaired  Team Members: 1) 21BLC1472 – S Vinodh 2) 21BLC1569 – A Navaneth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BCSE351E Foundations of Data Analytics  Digital Assignment – 1</dc:title>
  <dc:creator>vinodh Prakash</dc:creator>
  <cp:lastModifiedBy>Vinodh S</cp:lastModifiedBy>
  <cp:revision>1635</cp:revision>
  <dcterms:created xsi:type="dcterms:W3CDTF">2023-05-22T10:44:30Z</dcterms:created>
  <dcterms:modified xsi:type="dcterms:W3CDTF">2025-04-15T23:00:34Z</dcterms:modified>
</cp:coreProperties>
</file>